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5A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487940-B6C7-4D5E-AE8B-85FEA491E28B}" v="3" dt="2026-05-20T21:26:22.9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116" autoAdjust="0"/>
  </p:normalViewPr>
  <p:slideViewPr>
    <p:cSldViewPr snapToGrid="0" snapToObjects="1">
      <p:cViewPr varScale="1">
        <p:scale>
          <a:sx n="90" d="100"/>
          <a:sy n="90" d="100"/>
        </p:scale>
        <p:origin x="19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Mandel" userId="52539b07421473cf" providerId="LiveId" clId="{57B4768D-02BE-452A-9D63-8125C7D755DB}"/>
    <pc:docChg chg="undo custSel modSld">
      <pc:chgData name="Chris Mandel" userId="52539b07421473cf" providerId="LiveId" clId="{57B4768D-02BE-452A-9D63-8125C7D755DB}" dt="2026-05-20T21:29:45.124" v="115" actId="113"/>
      <pc:docMkLst>
        <pc:docMk/>
      </pc:docMkLst>
      <pc:sldChg chg="modSp mod">
        <pc:chgData name="Chris Mandel" userId="52539b07421473cf" providerId="LiveId" clId="{57B4768D-02BE-452A-9D63-8125C7D755DB}" dt="2026-04-29T16:22:00.956" v="15" actId="14100"/>
        <pc:sldMkLst>
          <pc:docMk/>
          <pc:sldMk cId="0" sldId="256"/>
        </pc:sldMkLst>
        <pc:spChg chg="mod">
          <ac:chgData name="Chris Mandel" userId="52539b07421473cf" providerId="LiveId" clId="{57B4768D-02BE-452A-9D63-8125C7D755DB}" dt="2026-04-29T16:20:46.527" v="0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46.527" v="0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46.527" v="0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53.942" v="1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53.942" v="1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53.942" v="1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02.490" v="2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02.490" v="2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02.490" v="2" actId="107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46.099" v="4" actId="1076"/>
          <ac:spMkLst>
            <pc:docMk/>
            <pc:sldMk cId="0" sldId="256"/>
            <ac:spMk id="81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56.565" v="14" actId="1038"/>
          <ac:spMkLst>
            <pc:docMk/>
            <pc:sldMk cId="0" sldId="256"/>
            <ac:spMk id="99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2:00.956" v="15" actId="14100"/>
          <ac:spMkLst>
            <pc:docMk/>
            <pc:sldMk cId="0" sldId="256"/>
            <ac:spMk id="105" creationId="{00000000-0000-0000-0000-000000000000}"/>
          </ac:spMkLst>
        </pc:spChg>
      </pc:sldChg>
      <pc:sldChg chg="addSp modSp mod">
        <pc:chgData name="Chris Mandel" userId="52539b07421473cf" providerId="LiveId" clId="{57B4768D-02BE-452A-9D63-8125C7D755DB}" dt="2026-05-20T21:26:41.457" v="91" actId="1076"/>
        <pc:sldMkLst>
          <pc:docMk/>
          <pc:sldMk cId="0" sldId="257"/>
        </pc:sldMkLst>
        <pc:spChg chg="mod">
          <ac:chgData name="Chris Mandel" userId="52539b07421473cf" providerId="LiveId" clId="{57B4768D-02BE-452A-9D63-8125C7D755DB}" dt="2026-05-20T21:21:07.034" v="32" actId="1076"/>
          <ac:spMkLst>
            <pc:docMk/>
            <pc:sldMk cId="0" sldId="257"/>
            <ac:spMk id="52" creationId="{00000000-0000-0000-0000-000000000000}"/>
          </ac:spMkLst>
        </pc:spChg>
        <pc:spChg chg="mod">
          <ac:chgData name="Chris Mandel" userId="52539b07421473cf" providerId="LiveId" clId="{57B4768D-02BE-452A-9D63-8125C7D755DB}" dt="2026-05-20T21:26:22.952" v="78" actId="571"/>
          <ac:spMkLst>
            <pc:docMk/>
            <pc:sldMk cId="0" sldId="257"/>
            <ac:spMk id="53" creationId="{00000000-0000-0000-0000-000000000000}"/>
          </ac:spMkLst>
        </pc:spChg>
        <pc:spChg chg="mod">
          <ac:chgData name="Chris Mandel" userId="52539b07421473cf" providerId="LiveId" clId="{57B4768D-02BE-452A-9D63-8125C7D755DB}" dt="2026-05-20T21:26:22.952" v="78" actId="571"/>
          <ac:spMkLst>
            <pc:docMk/>
            <pc:sldMk cId="0" sldId="257"/>
            <ac:spMk id="54" creationId="{00000000-0000-0000-0000-000000000000}"/>
          </ac:spMkLst>
        </pc:spChg>
        <pc:spChg chg="mod">
          <ac:chgData name="Chris Mandel" userId="52539b07421473cf" providerId="LiveId" clId="{57B4768D-02BE-452A-9D63-8125C7D755DB}" dt="2026-05-20T21:26:22.952" v="78" actId="571"/>
          <ac:spMkLst>
            <pc:docMk/>
            <pc:sldMk cId="0" sldId="257"/>
            <ac:spMk id="55" creationId="{00000000-0000-0000-0000-000000000000}"/>
          </ac:spMkLst>
        </pc:spChg>
        <pc:spChg chg="mod">
          <ac:chgData name="Chris Mandel" userId="52539b07421473cf" providerId="LiveId" clId="{57B4768D-02BE-452A-9D63-8125C7D755DB}" dt="2026-05-20T21:26:22.952" v="78" actId="571"/>
          <ac:spMkLst>
            <pc:docMk/>
            <pc:sldMk cId="0" sldId="257"/>
            <ac:spMk id="57" creationId="{00000000-0000-0000-0000-000000000000}"/>
          </ac:spMkLst>
        </pc:spChg>
        <pc:spChg chg="mod">
          <ac:chgData name="Chris Mandel" userId="52539b07421473cf" providerId="LiveId" clId="{57B4768D-02BE-452A-9D63-8125C7D755DB}" dt="2026-05-20T21:26:22.952" v="78" actId="571"/>
          <ac:spMkLst>
            <pc:docMk/>
            <pc:sldMk cId="0" sldId="257"/>
            <ac:spMk id="58" creationId="{00000000-0000-0000-0000-000000000000}"/>
          </ac:spMkLst>
        </pc:spChg>
        <pc:spChg chg="mod">
          <ac:chgData name="Chris Mandel" userId="52539b07421473cf" providerId="LiveId" clId="{57B4768D-02BE-452A-9D63-8125C7D755DB}" dt="2026-05-20T21:26:22.952" v="78" actId="571"/>
          <ac:spMkLst>
            <pc:docMk/>
            <pc:sldMk cId="0" sldId="257"/>
            <ac:spMk id="59" creationId="{00000000-0000-0000-0000-000000000000}"/>
          </ac:spMkLst>
        </pc:spChg>
        <pc:spChg chg="mod">
          <ac:chgData name="Chris Mandel" userId="52539b07421473cf" providerId="LiveId" clId="{57B4768D-02BE-452A-9D63-8125C7D755DB}" dt="2026-05-20T21:26:22.952" v="78" actId="571"/>
          <ac:spMkLst>
            <pc:docMk/>
            <pc:sldMk cId="0" sldId="257"/>
            <ac:spMk id="62" creationId="{00000000-0000-0000-0000-000000000000}"/>
          </ac:spMkLst>
        </pc:spChg>
        <pc:spChg chg="mod">
          <ac:chgData name="Chris Mandel" userId="52539b07421473cf" providerId="LiveId" clId="{57B4768D-02BE-452A-9D63-8125C7D755DB}" dt="2026-05-20T21:26:22.952" v="78" actId="571"/>
          <ac:spMkLst>
            <pc:docMk/>
            <pc:sldMk cId="0" sldId="257"/>
            <ac:spMk id="63" creationId="{00000000-0000-0000-0000-000000000000}"/>
          </ac:spMkLst>
        </pc:spChg>
        <pc:spChg chg="mod">
          <ac:chgData name="Chris Mandel" userId="52539b07421473cf" providerId="LiveId" clId="{57B4768D-02BE-452A-9D63-8125C7D755DB}" dt="2026-05-20T21:26:22.952" v="78" actId="571"/>
          <ac:spMkLst>
            <pc:docMk/>
            <pc:sldMk cId="0" sldId="257"/>
            <ac:spMk id="67" creationId="{00000000-0000-0000-0000-000000000000}"/>
          </ac:spMkLst>
        </pc:spChg>
        <pc:spChg chg="mod">
          <ac:chgData name="Chris Mandel" userId="52539b07421473cf" providerId="LiveId" clId="{57B4768D-02BE-452A-9D63-8125C7D755DB}" dt="2026-05-20T21:26:22.952" v="78" actId="571"/>
          <ac:spMkLst>
            <pc:docMk/>
            <pc:sldMk cId="0" sldId="257"/>
            <ac:spMk id="68" creationId="{00000000-0000-0000-0000-000000000000}"/>
          </ac:spMkLst>
        </pc:spChg>
        <pc:spChg chg="mod">
          <ac:chgData name="Chris Mandel" userId="52539b07421473cf" providerId="LiveId" clId="{57B4768D-02BE-452A-9D63-8125C7D755DB}" dt="2026-05-20T21:26:41.457" v="91" actId="1076"/>
          <ac:spMkLst>
            <pc:docMk/>
            <pc:sldMk cId="0" sldId="257"/>
            <ac:spMk id="71" creationId="{1AF2C6FE-7DB3-DCBE-0E3B-7F6A68FB1090}"/>
          </ac:spMkLst>
        </pc:spChg>
        <pc:grpChg chg="add mod">
          <ac:chgData name="Chris Mandel" userId="52539b07421473cf" providerId="LiveId" clId="{57B4768D-02BE-452A-9D63-8125C7D755DB}" dt="2026-05-20T21:21:21.811" v="34" actId="1076"/>
          <ac:grpSpMkLst>
            <pc:docMk/>
            <pc:sldMk cId="0" sldId="257"/>
            <ac:grpSpMk id="70" creationId="{6256A7CF-BB65-EFA2-CE98-66191BBF2374}"/>
          </ac:grpSpMkLst>
        </pc:grpChg>
      </pc:sldChg>
      <pc:sldChg chg="modSp mod">
        <pc:chgData name="Chris Mandel" userId="52539b07421473cf" providerId="LiveId" clId="{57B4768D-02BE-452A-9D63-8125C7D755DB}" dt="2026-05-20T21:02:30.843" v="25" actId="1036"/>
        <pc:sldMkLst>
          <pc:docMk/>
          <pc:sldMk cId="0" sldId="258"/>
        </pc:sldMkLst>
        <pc:spChg chg="mod">
          <ac:chgData name="Chris Mandel" userId="52539b07421473cf" providerId="LiveId" clId="{57B4768D-02BE-452A-9D63-8125C7D755DB}" dt="2026-05-20T21:02:30.843" v="25" actId="1036"/>
          <ac:spMkLst>
            <pc:docMk/>
            <pc:sldMk cId="0" sldId="258"/>
            <ac:spMk id="11" creationId="{00000000-0000-0000-0000-000000000000}"/>
          </ac:spMkLst>
        </pc:spChg>
      </pc:sldChg>
      <pc:sldChg chg="addSp delSp modSp mod modNotesTx">
        <pc:chgData name="Chris Mandel" userId="52539b07421473cf" providerId="LiveId" clId="{57B4768D-02BE-452A-9D63-8125C7D755DB}" dt="2026-05-20T21:29:45.124" v="115" actId="113"/>
        <pc:sldMkLst>
          <pc:docMk/>
          <pc:sldMk cId="0" sldId="259"/>
        </pc:sldMkLst>
        <pc:spChg chg="del mod">
          <ac:chgData name="Chris Mandel" userId="52539b07421473cf" providerId="LiveId" clId="{57B4768D-02BE-452A-9D63-8125C7D755DB}" dt="2026-05-20T21:24:48.579" v="66" actId="478"/>
          <ac:spMkLst>
            <pc:docMk/>
            <pc:sldMk cId="0" sldId="259"/>
            <ac:spMk id="52" creationId="{00000000-0000-0000-0000-000000000000}"/>
          </ac:spMkLst>
        </pc:spChg>
        <pc:spChg chg="mod">
          <ac:chgData name="Chris Mandel" userId="52539b07421473cf" providerId="LiveId" clId="{57B4768D-02BE-452A-9D63-8125C7D755DB}" dt="2026-05-20T21:26:52.796" v="92" actId="1076"/>
          <ac:spMkLst>
            <pc:docMk/>
            <pc:sldMk cId="0" sldId="259"/>
            <ac:spMk id="53" creationId="{00000000-0000-0000-0000-000000000000}"/>
          </ac:spMkLst>
        </pc:spChg>
        <pc:spChg chg="mod topLvl">
          <ac:chgData name="Chris Mandel" userId="52539b07421473cf" providerId="LiveId" clId="{57B4768D-02BE-452A-9D63-8125C7D755DB}" dt="2026-05-20T21:24:20.150" v="60" actId="1076"/>
          <ac:spMkLst>
            <pc:docMk/>
            <pc:sldMk cId="0" sldId="259"/>
            <ac:spMk id="54" creationId="{00000000-0000-0000-0000-000000000000}"/>
          </ac:spMkLst>
        </pc:spChg>
        <pc:spChg chg="mod">
          <ac:chgData name="Chris Mandel" userId="52539b07421473cf" providerId="LiveId" clId="{57B4768D-02BE-452A-9D63-8125C7D755DB}" dt="2026-05-20T21:24:03.912" v="48" actId="1076"/>
          <ac:spMkLst>
            <pc:docMk/>
            <pc:sldMk cId="0" sldId="259"/>
            <ac:spMk id="56" creationId="{00000000-0000-0000-0000-000000000000}"/>
          </ac:spMkLst>
        </pc:spChg>
        <pc:spChg chg="mod topLvl">
          <ac:chgData name="Chris Mandel" userId="52539b07421473cf" providerId="LiveId" clId="{57B4768D-02BE-452A-9D63-8125C7D755DB}" dt="2026-05-20T21:24:20.150" v="60" actId="1076"/>
          <ac:spMkLst>
            <pc:docMk/>
            <pc:sldMk cId="0" sldId="259"/>
            <ac:spMk id="57" creationId="{00000000-0000-0000-0000-000000000000}"/>
          </ac:spMkLst>
        </pc:spChg>
        <pc:spChg chg="mod topLvl">
          <ac:chgData name="Chris Mandel" userId="52539b07421473cf" providerId="LiveId" clId="{57B4768D-02BE-452A-9D63-8125C7D755DB}" dt="2026-05-20T21:24:20.150" v="60" actId="1076"/>
          <ac:spMkLst>
            <pc:docMk/>
            <pc:sldMk cId="0" sldId="259"/>
            <ac:spMk id="58" creationId="{00000000-0000-0000-0000-000000000000}"/>
          </ac:spMkLst>
        </pc:spChg>
        <pc:spChg chg="mod topLvl">
          <ac:chgData name="Chris Mandel" userId="52539b07421473cf" providerId="LiveId" clId="{57B4768D-02BE-452A-9D63-8125C7D755DB}" dt="2026-05-20T21:24:20.150" v="60" actId="1076"/>
          <ac:spMkLst>
            <pc:docMk/>
            <pc:sldMk cId="0" sldId="259"/>
            <ac:spMk id="61" creationId="{00000000-0000-0000-0000-000000000000}"/>
          </ac:spMkLst>
        </pc:spChg>
        <pc:spChg chg="mod topLvl">
          <ac:chgData name="Chris Mandel" userId="52539b07421473cf" providerId="LiveId" clId="{57B4768D-02BE-452A-9D63-8125C7D755DB}" dt="2026-05-20T21:24:20.150" v="60" actId="1076"/>
          <ac:spMkLst>
            <pc:docMk/>
            <pc:sldMk cId="0" sldId="259"/>
            <ac:spMk id="62" creationId="{00000000-0000-0000-0000-000000000000}"/>
          </ac:spMkLst>
        </pc:spChg>
        <pc:spChg chg="mod topLvl">
          <ac:chgData name="Chris Mandel" userId="52539b07421473cf" providerId="LiveId" clId="{57B4768D-02BE-452A-9D63-8125C7D755DB}" dt="2026-05-20T21:24:20.150" v="60" actId="1076"/>
          <ac:spMkLst>
            <pc:docMk/>
            <pc:sldMk cId="0" sldId="259"/>
            <ac:spMk id="63" creationId="{00000000-0000-0000-0000-000000000000}"/>
          </ac:spMkLst>
        </pc:spChg>
        <pc:spChg chg="mod topLvl">
          <ac:chgData name="Chris Mandel" userId="52539b07421473cf" providerId="LiveId" clId="{57B4768D-02BE-452A-9D63-8125C7D755DB}" dt="2026-05-20T21:24:20.150" v="60" actId="1076"/>
          <ac:spMkLst>
            <pc:docMk/>
            <pc:sldMk cId="0" sldId="259"/>
            <ac:spMk id="64" creationId="{00000000-0000-0000-0000-000000000000}"/>
          </ac:spMkLst>
        </pc:spChg>
        <pc:spChg chg="mod topLvl">
          <ac:chgData name="Chris Mandel" userId="52539b07421473cf" providerId="LiveId" clId="{57B4768D-02BE-452A-9D63-8125C7D755DB}" dt="2026-05-20T21:24:20.150" v="60" actId="1076"/>
          <ac:spMkLst>
            <pc:docMk/>
            <pc:sldMk cId="0" sldId="259"/>
            <ac:spMk id="65" creationId="{00000000-0000-0000-0000-000000000000}"/>
          </ac:spMkLst>
        </pc:spChg>
        <pc:spChg chg="mod topLvl">
          <ac:chgData name="Chris Mandel" userId="52539b07421473cf" providerId="LiveId" clId="{57B4768D-02BE-452A-9D63-8125C7D755DB}" dt="2026-05-20T21:24:20.150" v="60" actId="1076"/>
          <ac:spMkLst>
            <pc:docMk/>
            <pc:sldMk cId="0" sldId="259"/>
            <ac:spMk id="66" creationId="{00000000-0000-0000-0000-000000000000}"/>
          </ac:spMkLst>
        </pc:spChg>
        <pc:spChg chg="mod topLvl">
          <ac:chgData name="Chris Mandel" userId="52539b07421473cf" providerId="LiveId" clId="{57B4768D-02BE-452A-9D63-8125C7D755DB}" dt="2026-05-20T21:24:20.150" v="60" actId="1076"/>
          <ac:spMkLst>
            <pc:docMk/>
            <pc:sldMk cId="0" sldId="259"/>
            <ac:spMk id="67" creationId="{00000000-0000-0000-0000-000000000000}"/>
          </ac:spMkLst>
        </pc:spChg>
        <pc:spChg chg="mod">
          <ac:chgData name="Chris Mandel" userId="52539b07421473cf" providerId="LiveId" clId="{57B4768D-02BE-452A-9D63-8125C7D755DB}" dt="2026-05-20T21:25:41.153" v="77" actId="1076"/>
          <ac:spMkLst>
            <pc:docMk/>
            <pc:sldMk cId="0" sldId="259"/>
            <ac:spMk id="69" creationId="{00000000-0000-0000-0000-000000000000}"/>
          </ac:spMkLst>
        </pc:spChg>
        <pc:spChg chg="add del mod">
          <ac:chgData name="Chris Mandel" userId="52539b07421473cf" providerId="LiveId" clId="{57B4768D-02BE-452A-9D63-8125C7D755DB}" dt="2026-05-20T21:24:07.398" v="54" actId="11529"/>
          <ac:spMkLst>
            <pc:docMk/>
            <pc:sldMk cId="0" sldId="259"/>
            <ac:spMk id="71" creationId="{1BAF210A-76A2-E090-93E4-A178F3AB417E}"/>
          </ac:spMkLst>
        </pc:spChg>
        <pc:spChg chg="add mod">
          <ac:chgData name="Chris Mandel" userId="52539b07421473cf" providerId="LiveId" clId="{57B4768D-02BE-452A-9D63-8125C7D755DB}" dt="2026-05-20T21:25:36.426" v="76" actId="1076"/>
          <ac:spMkLst>
            <pc:docMk/>
            <pc:sldMk cId="0" sldId="259"/>
            <ac:spMk id="73" creationId="{CD719003-06DB-2444-2313-0A96ABDF13E3}"/>
          </ac:spMkLst>
        </pc:spChg>
        <pc:grpChg chg="add">
          <ac:chgData name="Chris Mandel" userId="52539b07421473cf" providerId="LiveId" clId="{57B4768D-02BE-452A-9D63-8125C7D755DB}" dt="2026-05-20T21:21:41.754" v="36" actId="164"/>
          <ac:grpSpMkLst>
            <pc:docMk/>
            <pc:sldMk cId="0" sldId="259"/>
            <ac:grpSpMk id="70" creationId="{FB106D28-B3D3-6DA2-20F6-3070C132708A}"/>
          </ac:grpSpMkLst>
        </pc:grpChg>
        <pc:grpChg chg="add mod">
          <ac:chgData name="Chris Mandel" userId="52539b07421473cf" providerId="LiveId" clId="{57B4768D-02BE-452A-9D63-8125C7D755DB}" dt="2026-05-20T21:25:36.426" v="76" actId="1076"/>
          <ac:grpSpMkLst>
            <pc:docMk/>
            <pc:sldMk cId="0" sldId="259"/>
            <ac:grpSpMk id="72" creationId="{8A45E500-ECBA-2545-DB6B-A7E771791269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CB800-EBDE-48D7-86B7-9861DCE3AAF6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DB628-943B-4BD9-AB6A-69F03B674EF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7365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DB628-943B-4BD9-AB6A-69F03B674EF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9664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Kernbotschaft</a:t>
            </a:r>
            <a:r>
              <a:rPr dirty="0"/>
              <a:t>: </a:t>
            </a:r>
            <a:r>
              <a:rPr dirty="0" err="1"/>
              <a:t>Technische</a:t>
            </a:r>
            <a:r>
              <a:rPr dirty="0"/>
              <a:t> </a:t>
            </a:r>
            <a:r>
              <a:rPr dirty="0" err="1"/>
              <a:t>Neuerungen</a:t>
            </a:r>
            <a:r>
              <a:rPr dirty="0"/>
              <a:t> </a:t>
            </a:r>
            <a:r>
              <a:rPr dirty="0" err="1"/>
              <a:t>verbreiten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heute</a:t>
            </a:r>
            <a:r>
              <a:rPr dirty="0"/>
              <a:t> in Tagen, </a:t>
            </a:r>
            <a:r>
              <a:rPr dirty="0" err="1"/>
              <a:t>früher</a:t>
            </a:r>
            <a:r>
              <a:rPr dirty="0"/>
              <a:t> in </a:t>
            </a:r>
            <a:r>
              <a:rPr dirty="0" err="1"/>
              <a:t>Jahrzehnten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Zeitstrahl-Daten</a:t>
            </a:r>
            <a:r>
              <a:rPr dirty="0"/>
              <a:t>:</a:t>
            </a:r>
          </a:p>
          <a:p>
            <a:r>
              <a:rPr dirty="0"/>
              <a:t>1450 Gutenberg-</a:t>
            </a:r>
            <a:r>
              <a:rPr dirty="0" err="1"/>
              <a:t>Buchdruck</a:t>
            </a:r>
            <a:r>
              <a:rPr dirty="0"/>
              <a:t> · 1876 </a:t>
            </a:r>
            <a:r>
              <a:rPr dirty="0" err="1"/>
              <a:t>Telefon</a:t>
            </a:r>
            <a:r>
              <a:rPr dirty="0"/>
              <a:t> (Bell) · 1895 Radio (Marconi) · 1927 </a:t>
            </a:r>
            <a:r>
              <a:rPr dirty="0" err="1"/>
              <a:t>Fernsehen</a:t>
            </a:r>
            <a:r>
              <a:rPr dirty="0"/>
              <a:t> · 1946 ENIAC (</a:t>
            </a:r>
            <a:r>
              <a:rPr dirty="0" err="1"/>
              <a:t>erster</a:t>
            </a:r>
            <a:r>
              <a:rPr dirty="0"/>
              <a:t> </a:t>
            </a:r>
            <a:r>
              <a:rPr dirty="0" err="1"/>
              <a:t>elektron</a:t>
            </a:r>
            <a:r>
              <a:rPr dirty="0"/>
              <a:t>. </a:t>
            </a:r>
            <a:r>
              <a:rPr dirty="0" err="1"/>
              <a:t>Universalrechner</a:t>
            </a:r>
            <a:r>
              <a:rPr dirty="0"/>
              <a:t>) · 1969 ARPANET (Internet-</a:t>
            </a:r>
            <a:r>
              <a:rPr dirty="0" err="1"/>
              <a:t>Vorläufer</a:t>
            </a:r>
            <a:r>
              <a:rPr dirty="0"/>
              <a:t>) · 1991 World Wide Web (Tim Berners-Lee) · 2007 iPhone (Smartphone-</a:t>
            </a:r>
            <a:r>
              <a:rPr dirty="0" err="1"/>
              <a:t>Ära</a:t>
            </a:r>
            <a:r>
              <a:rPr dirty="0"/>
              <a:t>) · 2022 ChatGPT (generative KI für alle) · ab ca. 2025 </a:t>
            </a:r>
            <a:r>
              <a:rPr dirty="0" err="1"/>
              <a:t>Quantencomputer</a:t>
            </a:r>
            <a:r>
              <a:rPr dirty="0"/>
              <a:t> (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Aufkommen</a:t>
            </a:r>
            <a:r>
              <a:rPr dirty="0"/>
              <a:t>).</a:t>
            </a:r>
          </a:p>
          <a:p>
            <a:endParaRPr dirty="0"/>
          </a:p>
          <a:p>
            <a:r>
              <a:rPr dirty="0"/>
              <a:t>Adoptions-Tempo 'bis 1 Mio. </a:t>
            </a:r>
            <a:r>
              <a:rPr dirty="0" err="1"/>
              <a:t>Nutzer</a:t>
            </a:r>
            <a:r>
              <a:rPr dirty="0"/>
              <a:t>' (</a:t>
            </a:r>
            <a:r>
              <a:rPr dirty="0" err="1"/>
              <a:t>konsistente</a:t>
            </a:r>
            <a:r>
              <a:rPr dirty="0"/>
              <a:t> </a:t>
            </a:r>
            <a:r>
              <a:rPr dirty="0" err="1"/>
              <a:t>Metrik</a:t>
            </a:r>
            <a:r>
              <a:rPr dirty="0"/>
              <a:t>): Netflix ~3,5 Jahre, Facebook ~10 </a:t>
            </a:r>
            <a:r>
              <a:rPr dirty="0" err="1"/>
              <a:t>Monate</a:t>
            </a:r>
            <a:r>
              <a:rPr dirty="0"/>
              <a:t>, Spotify ~5 </a:t>
            </a:r>
            <a:r>
              <a:rPr dirty="0" err="1"/>
              <a:t>Monate</a:t>
            </a:r>
            <a:r>
              <a:rPr dirty="0"/>
              <a:t>, Instagram ~2,5 </a:t>
            </a:r>
            <a:r>
              <a:rPr dirty="0" err="1"/>
              <a:t>Monate</a:t>
            </a:r>
            <a:r>
              <a:rPr dirty="0"/>
              <a:t>, ChatGPT ~5 Tage.</a:t>
            </a:r>
          </a:p>
          <a:p>
            <a:endParaRPr dirty="0"/>
          </a:p>
          <a:p>
            <a:r>
              <a:rPr dirty="0"/>
              <a:t>WICHTIG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Ehrlichkeit</a:t>
            </a:r>
            <a:r>
              <a:rPr dirty="0"/>
              <a:t>: Die oft </a:t>
            </a:r>
            <a:r>
              <a:rPr dirty="0" err="1"/>
              <a:t>zitierten</a:t>
            </a:r>
            <a:r>
              <a:rPr dirty="0"/>
              <a:t> '38 Jahre Radio' </a:t>
            </a:r>
            <a:r>
              <a:rPr dirty="0" err="1"/>
              <a:t>beziehen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auf 50 Mio. </a:t>
            </a:r>
            <a:r>
              <a:rPr dirty="0" err="1"/>
              <a:t>Nutzer</a:t>
            </a:r>
            <a:r>
              <a:rPr dirty="0"/>
              <a:t>, nicht 1 Mio. — </a:t>
            </a:r>
            <a:r>
              <a:rPr dirty="0" err="1"/>
              <a:t>daher</a:t>
            </a:r>
            <a:r>
              <a:rPr dirty="0"/>
              <a:t> </a:t>
            </a:r>
            <a:r>
              <a:rPr dirty="0" err="1"/>
              <a:t>hier</a:t>
            </a:r>
            <a:r>
              <a:rPr dirty="0"/>
              <a:t> </a:t>
            </a:r>
            <a:r>
              <a:rPr dirty="0" err="1"/>
              <a:t>getrennt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Kontext</a:t>
            </a:r>
            <a:r>
              <a:rPr dirty="0"/>
              <a:t> </a:t>
            </a:r>
            <a:r>
              <a:rPr dirty="0" err="1"/>
              <a:t>genannt</a:t>
            </a:r>
            <a:r>
              <a:rPr dirty="0"/>
              <a:t>, nicht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direkten</a:t>
            </a:r>
            <a:r>
              <a:rPr dirty="0"/>
              <a:t> </a:t>
            </a:r>
            <a:r>
              <a:rPr dirty="0" err="1"/>
              <a:t>Balkenvergleich</a:t>
            </a:r>
            <a:r>
              <a:rPr dirty="0"/>
              <a:t>. ChatGPT </a:t>
            </a:r>
            <a:r>
              <a:rPr dirty="0" err="1"/>
              <a:t>erreichte</a:t>
            </a:r>
            <a:r>
              <a:rPr dirty="0"/>
              <a:t> 100 Mio. </a:t>
            </a:r>
            <a:r>
              <a:rPr dirty="0" err="1"/>
              <a:t>Nutzer</a:t>
            </a:r>
            <a:r>
              <a:rPr dirty="0"/>
              <a:t> in ~2 </a:t>
            </a:r>
            <a:r>
              <a:rPr dirty="0" err="1"/>
              <a:t>Monaten</a:t>
            </a:r>
            <a:r>
              <a:rPr dirty="0"/>
              <a:t> (</a:t>
            </a:r>
            <a:r>
              <a:rPr dirty="0" err="1"/>
              <a:t>schnellste</a:t>
            </a:r>
            <a:r>
              <a:rPr dirty="0"/>
              <a:t> Consumer-App der </a:t>
            </a:r>
            <a:r>
              <a:rPr dirty="0" err="1"/>
              <a:t>Geschichte</a:t>
            </a:r>
            <a:r>
              <a:rPr dirty="0"/>
              <a:t> bis </a:t>
            </a:r>
            <a:r>
              <a:rPr dirty="0" err="1"/>
              <a:t>dahin</a:t>
            </a:r>
            <a:r>
              <a:rPr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Die </a:t>
            </a:r>
            <a:r>
              <a:rPr lang="de-DE" b="1" dirty="0"/>
              <a:t>einzige Konstante</a:t>
            </a:r>
            <a:r>
              <a:rPr lang="de-DE" dirty="0"/>
              <a:t>: Die </a:t>
            </a:r>
            <a:r>
              <a:rPr lang="de-DE" b="1" dirty="0"/>
              <a:t>Veränderung</a:t>
            </a:r>
            <a:r>
              <a:rPr lang="de-DE" dirty="0"/>
              <a:t> kommt</a:t>
            </a:r>
            <a:r>
              <a:rPr lang="de-DE" b="1" dirty="0"/>
              <a:t>. Immer früher. Immer tiefer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dirty="0" err="1"/>
              <a:t>Kernbotschaft</a:t>
            </a:r>
            <a:r>
              <a:rPr dirty="0"/>
              <a:t>: </a:t>
            </a:r>
            <a:r>
              <a:rPr dirty="0" err="1"/>
              <a:t>Technische</a:t>
            </a:r>
            <a:r>
              <a:rPr dirty="0"/>
              <a:t> </a:t>
            </a:r>
            <a:r>
              <a:rPr dirty="0" err="1"/>
              <a:t>Neuerungen</a:t>
            </a:r>
            <a:r>
              <a:rPr dirty="0"/>
              <a:t> </a:t>
            </a:r>
            <a:r>
              <a:rPr dirty="0" err="1"/>
              <a:t>verbreiten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heute</a:t>
            </a:r>
            <a:r>
              <a:rPr dirty="0"/>
              <a:t> in Tagen, </a:t>
            </a:r>
            <a:r>
              <a:rPr dirty="0" err="1"/>
              <a:t>früher</a:t>
            </a:r>
            <a:r>
              <a:rPr dirty="0"/>
              <a:t> in </a:t>
            </a:r>
            <a:r>
              <a:rPr dirty="0" err="1"/>
              <a:t>Jahrzehnten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Zeitstrahl-Daten</a:t>
            </a:r>
            <a:r>
              <a:rPr dirty="0"/>
              <a:t>:</a:t>
            </a:r>
          </a:p>
          <a:p>
            <a:r>
              <a:rPr dirty="0"/>
              <a:t>1450 Gutenberg-</a:t>
            </a:r>
            <a:r>
              <a:rPr dirty="0" err="1"/>
              <a:t>Buchdruck</a:t>
            </a:r>
            <a:r>
              <a:rPr dirty="0"/>
              <a:t> · 1876 </a:t>
            </a:r>
            <a:r>
              <a:rPr dirty="0" err="1"/>
              <a:t>Telefon</a:t>
            </a:r>
            <a:r>
              <a:rPr dirty="0"/>
              <a:t> (Bell) · 1895 Radio (Marconi) · 1927 </a:t>
            </a:r>
            <a:r>
              <a:rPr dirty="0" err="1"/>
              <a:t>Fernsehen</a:t>
            </a:r>
            <a:r>
              <a:rPr dirty="0"/>
              <a:t> · 1946 ENIAC (</a:t>
            </a:r>
            <a:r>
              <a:rPr dirty="0" err="1"/>
              <a:t>erster</a:t>
            </a:r>
            <a:r>
              <a:rPr dirty="0"/>
              <a:t> </a:t>
            </a:r>
            <a:r>
              <a:rPr dirty="0" err="1"/>
              <a:t>elektron</a:t>
            </a:r>
            <a:r>
              <a:rPr dirty="0"/>
              <a:t>. </a:t>
            </a:r>
            <a:r>
              <a:rPr dirty="0" err="1"/>
              <a:t>Universalrechner</a:t>
            </a:r>
            <a:r>
              <a:rPr dirty="0"/>
              <a:t>) · 1969 ARPANET (Internet-</a:t>
            </a:r>
            <a:r>
              <a:rPr dirty="0" err="1"/>
              <a:t>Vorläufer</a:t>
            </a:r>
            <a:r>
              <a:rPr dirty="0"/>
              <a:t>) · 1991 World Wide Web (Tim Berners-Lee) · 2007 iPhone (Smartphone-</a:t>
            </a:r>
            <a:r>
              <a:rPr dirty="0" err="1"/>
              <a:t>Ära</a:t>
            </a:r>
            <a:r>
              <a:rPr dirty="0"/>
              <a:t>) · 2022 ChatGPT (generative KI für alle) · ab ca. 2025 </a:t>
            </a:r>
            <a:r>
              <a:rPr dirty="0" err="1"/>
              <a:t>Quantencomputer</a:t>
            </a:r>
            <a:r>
              <a:rPr dirty="0"/>
              <a:t> (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Aufkommen</a:t>
            </a:r>
            <a:r>
              <a:rPr dirty="0"/>
              <a:t>).</a:t>
            </a:r>
          </a:p>
          <a:p>
            <a:endParaRPr dirty="0"/>
          </a:p>
          <a:p>
            <a:r>
              <a:rPr dirty="0"/>
              <a:t>Adoptions-Tempo 'bis 1 Mio. </a:t>
            </a:r>
            <a:r>
              <a:rPr dirty="0" err="1"/>
              <a:t>Nutzer</a:t>
            </a:r>
            <a:r>
              <a:rPr dirty="0"/>
              <a:t>' (</a:t>
            </a:r>
            <a:r>
              <a:rPr dirty="0" err="1"/>
              <a:t>konsistente</a:t>
            </a:r>
            <a:r>
              <a:rPr dirty="0"/>
              <a:t> </a:t>
            </a:r>
            <a:r>
              <a:rPr dirty="0" err="1"/>
              <a:t>Metrik</a:t>
            </a:r>
            <a:r>
              <a:rPr dirty="0"/>
              <a:t>): Netflix ~3,5 Jahre, Facebook ~10 </a:t>
            </a:r>
            <a:r>
              <a:rPr dirty="0" err="1"/>
              <a:t>Monate</a:t>
            </a:r>
            <a:r>
              <a:rPr dirty="0"/>
              <a:t>, Spotify ~5 </a:t>
            </a:r>
            <a:r>
              <a:rPr dirty="0" err="1"/>
              <a:t>Monate</a:t>
            </a:r>
            <a:r>
              <a:rPr dirty="0"/>
              <a:t>, Instagram ~2,5 </a:t>
            </a:r>
            <a:r>
              <a:rPr dirty="0" err="1"/>
              <a:t>Monate</a:t>
            </a:r>
            <a:r>
              <a:rPr dirty="0"/>
              <a:t>, ChatGPT ~5 Tage.</a:t>
            </a:r>
          </a:p>
          <a:p>
            <a:endParaRPr dirty="0"/>
          </a:p>
          <a:p>
            <a:r>
              <a:rPr dirty="0"/>
              <a:t>WICHTIG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Ehrlichkeit</a:t>
            </a:r>
            <a:r>
              <a:rPr dirty="0"/>
              <a:t>: Die oft </a:t>
            </a:r>
            <a:r>
              <a:rPr dirty="0" err="1"/>
              <a:t>zitierten</a:t>
            </a:r>
            <a:r>
              <a:rPr dirty="0"/>
              <a:t> '38 Jahre Radio' </a:t>
            </a:r>
            <a:r>
              <a:rPr dirty="0" err="1"/>
              <a:t>beziehen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auf 50 Mio. </a:t>
            </a:r>
            <a:r>
              <a:rPr dirty="0" err="1"/>
              <a:t>Nutzer</a:t>
            </a:r>
            <a:r>
              <a:rPr dirty="0"/>
              <a:t>, nicht 1 Mio. — </a:t>
            </a:r>
            <a:r>
              <a:rPr dirty="0" err="1"/>
              <a:t>daher</a:t>
            </a:r>
            <a:r>
              <a:rPr dirty="0"/>
              <a:t> </a:t>
            </a:r>
            <a:r>
              <a:rPr dirty="0" err="1"/>
              <a:t>hier</a:t>
            </a:r>
            <a:r>
              <a:rPr dirty="0"/>
              <a:t> </a:t>
            </a:r>
            <a:r>
              <a:rPr dirty="0" err="1"/>
              <a:t>getrennt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Kontext</a:t>
            </a:r>
            <a:r>
              <a:rPr dirty="0"/>
              <a:t> </a:t>
            </a:r>
            <a:r>
              <a:rPr dirty="0" err="1"/>
              <a:t>genannt</a:t>
            </a:r>
            <a:r>
              <a:rPr dirty="0"/>
              <a:t>, nicht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direkten</a:t>
            </a:r>
            <a:r>
              <a:rPr dirty="0"/>
              <a:t> </a:t>
            </a:r>
            <a:r>
              <a:rPr dirty="0" err="1"/>
              <a:t>Balkenvergleich</a:t>
            </a:r>
            <a:r>
              <a:rPr dirty="0"/>
              <a:t>. ChatGPT </a:t>
            </a:r>
            <a:r>
              <a:rPr dirty="0" err="1"/>
              <a:t>erreichte</a:t>
            </a:r>
            <a:r>
              <a:rPr dirty="0"/>
              <a:t> 100 Mio. </a:t>
            </a:r>
            <a:r>
              <a:rPr dirty="0" err="1"/>
              <a:t>Nutzer</a:t>
            </a:r>
            <a:r>
              <a:rPr dirty="0"/>
              <a:t> in ~2 </a:t>
            </a:r>
            <a:r>
              <a:rPr dirty="0" err="1"/>
              <a:t>Monaten</a:t>
            </a:r>
            <a:r>
              <a:rPr dirty="0"/>
              <a:t> (</a:t>
            </a:r>
            <a:r>
              <a:rPr dirty="0" err="1"/>
              <a:t>schnellste</a:t>
            </a:r>
            <a:r>
              <a:rPr dirty="0"/>
              <a:t> Consumer-App der </a:t>
            </a:r>
            <a:r>
              <a:rPr dirty="0" err="1"/>
              <a:t>Geschichte</a:t>
            </a:r>
            <a:r>
              <a:rPr dirty="0"/>
              <a:t> bis </a:t>
            </a:r>
            <a:r>
              <a:rPr dirty="0" err="1"/>
              <a:t>dahin</a:t>
            </a:r>
            <a:r>
              <a:rPr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sp>
        <p:nvSpPr>
          <p:cNvPr id="1" name="Rectangl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457200"/>
            <a:ext cx="12188952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6400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KI-Modelle &amp; Anwendungen — Überblick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Lessing Gymnasium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949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Anwendungsarten: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58568" y="566928"/>
            <a:ext cx="3188208" cy="621792"/>
          </a:xfrm>
          <a:prstGeom prst="rect">
            <a:avLst/>
          </a:prstGeom>
          <a:solidFill>
            <a:srgbClr val="1D4ED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612648"/>
            <a:ext cx="305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💬 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914400"/>
            <a:ext cx="3051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Fragen stellen &amp; Antworten bekommen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9072" y="566928"/>
            <a:ext cx="3188208" cy="621792"/>
          </a:xfrm>
          <a:prstGeom prst="rect">
            <a:avLst/>
          </a:prstGeom>
          <a:solidFill>
            <a:srgbClr val="6D28D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0512" y="612648"/>
            <a:ext cx="305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🤖  KI-Assistent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0512" y="914400"/>
            <a:ext cx="3051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Aufgaben delegieren &amp; erledigen lassen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9576" y="566928"/>
            <a:ext cx="3188208" cy="621792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1016" y="612648"/>
            <a:ext cx="305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⚡  Agent / Autopilot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1016" y="914400"/>
            <a:ext cx="3051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Selbstständig planen &amp; handeln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1298448"/>
            <a:ext cx="2884932" cy="233172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1298448"/>
            <a:ext cx="64008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389888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EE7B7"/>
                </a:solidFill>
              </a:rPr>
              <a:t>🟢  OpenAI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755648"/>
            <a:ext cx="2647188" cy="137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792224"/>
            <a:ext cx="2702052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GPT-3.5  (175 Mrd. Parameter)
  GPT-4o  (Text · Code · Vision)
  GPT-4.5  (Kreativität · Chat)
  Kontext: 128 000 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68396" y="1298448"/>
            <a:ext cx="2884932" cy="233172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68396" y="1298448"/>
            <a:ext cx="64008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87268" y="1389888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B5FD"/>
                </a:solidFill>
              </a:rPr>
              <a:t>🟣  Anthropic — Claude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7268" y="1755648"/>
            <a:ext cx="2647188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87268" y="1792224"/>
            <a:ext cx="2702052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Haiku  —  schnell &amp; günstig
  Sonnet  —  Allrounder
  Opus  —  Reasoning &amp; Analyse
  Kontext: 200 000 Token  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35624" y="1298448"/>
            <a:ext cx="2884932" cy="2331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35624" y="1298448"/>
            <a:ext cx="64008" cy="2331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1389888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DD3FC"/>
                </a:solidFill>
              </a:rPr>
              <a:t>🔵  Microsoft Copilot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54496" y="1755648"/>
            <a:ext cx="2647188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792224"/>
            <a:ext cx="2702052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Basiert auf GPT-Modellen
  + Bing-Suche  →  stets aktuell
  In Microsoft 365 integriert
  Word · Teams · Outlook · Edge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02852" y="1298448"/>
            <a:ext cx="2884932" cy="233172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02852" y="1298448"/>
            <a:ext cx="64008" cy="2331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1724" y="1389888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E68A"/>
                </a:solidFill>
              </a:rPr>
              <a:t>🟡  Gratis-Modelle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21724" y="1755648"/>
            <a:ext cx="2647188" cy="1371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21724" y="1792224"/>
            <a:ext cx="2702052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Llama 4  (Meta)  —  Open Source
  Phi-4  (Microsoft)  —  kompakt
  Mistral  (Frankreich)  —  Europa
  Gemma  (Google)  —  lokal nutzbar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" y="3730752"/>
            <a:ext cx="3874008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1168" y="3730752"/>
            <a:ext cx="64008" cy="2286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822191"/>
            <a:ext cx="3709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A8D4"/>
                </a:solidFill>
              </a:rPr>
              <a:t>🎨  Bild-KIs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187952"/>
            <a:ext cx="3636264" cy="1371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224528"/>
            <a:ext cx="369112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DALL-E 3  (OpenAI)
  Gemini Imagen  (Google)
  Midjourney  (eigenständig)
  MS Designer / MAI  (DALL-E-Basis)
  Stable Diffusion  (Open Source)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57472" y="3730752"/>
            <a:ext cx="3874008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57472" y="3730752"/>
            <a:ext cx="64008" cy="2286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76344" y="3822191"/>
            <a:ext cx="3709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CA5A5"/>
                </a:solidFill>
              </a:rPr>
              <a:t>🎬  Video-KIs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6344" y="4187952"/>
            <a:ext cx="3636264" cy="1371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6344" y="4224528"/>
            <a:ext cx="369112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Sora  (OpenAI)  —  Text → Video
  RunwayML  —  Profi-Tool
  Pika  —  einfach &amp; schnell
  Kling  —  sehr hohe Qualität
  Gemini Video  (Google)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13776" y="3730752"/>
            <a:ext cx="3874008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13776" y="3730752"/>
            <a:ext cx="64008" cy="2286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32648" y="3822191"/>
            <a:ext cx="3709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EE7B7"/>
                </a:solidFill>
              </a:rPr>
              <a:t>🏥  Spezial-KIs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32648" y="4187952"/>
            <a:ext cx="3636264" cy="1371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32648" y="4224528"/>
            <a:ext cx="369112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Med-PaLM 2  (Google)  — Medizin
  Harvey  — Rechtswesen
  Khanmigo  — Bildung / Schule
  GitHub Copilot  — Programmierung
  Perplexity  — KI-Suchmaschine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1168" y="6099048"/>
            <a:ext cx="11786616" cy="237744"/>
          </a:xfrm>
          <a:prstGeom prst="rect">
            <a:avLst/>
          </a:prstGeom>
          <a:solidFill>
            <a:srgbClr val="1E293B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8" y="6126480"/>
            <a:ext cx="1155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</a:rPr>
              <a:t>⚡ Token = kleinste Texteinheit (~4 Zeichen)   |   Kontext-Fenster: Claude 200K  ·  GPT-4 128K  ·  Gemini 2M  ·  Llama 128K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6784848"/>
            <a:ext cx="182880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" b="0">
                <a:solidFill>
                  <a:srgbClr val="0D0B1E"/>
                </a:solidFill>
                <a:latin typeface="Segoe UI"/>
              </a:rPr>
              <a:t>MEILENSTEIN_FOLIE_V1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F6699"/>
                </a:solidFill>
                <a:latin typeface="Segoe UI"/>
              </a:rPr>
              <a:t>④  Vom Buchdruck zur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B0A0D0"/>
                </a:solidFill>
                <a:latin typeface="Segoe UI"/>
              </a:rPr>
              <a:t>Die Innovationszyklen werden immer kürzer — Technik beschleunigt sich selbst.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0911840" cy="32004"/>
          </a:xfrm>
          <a:prstGeom prst="rect">
            <a:avLst/>
          </a:prstGeom>
          <a:solidFill>
            <a:srgbClr val="4A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57784" y="2263139"/>
            <a:ext cx="164592" cy="164592"/>
          </a:xfrm>
          <a:prstGeom prst="ellipse">
            <a:avLst/>
          </a:prstGeom>
          <a:solidFill>
            <a:srgbClr val="6A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79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Segoe UI"/>
              </a:rPr>
              <a:t>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1450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B0A0D0"/>
                </a:solidFill>
                <a:latin typeface="Segoe UI"/>
              </a:rPr>
              <a:t>Buchdruck</a:t>
            </a:r>
          </a:p>
        </p:txBody>
      </p:sp>
      <p:sp>
        <p:nvSpPr>
          <p:cNvPr id="12" name="Oval 11"/>
          <p:cNvSpPr/>
          <p:nvPr/>
        </p:nvSpPr>
        <p:spPr>
          <a:xfrm>
            <a:off x="1770210" y="2263139"/>
            <a:ext cx="164592" cy="164592"/>
          </a:xfrm>
          <a:prstGeom prst="ellipse">
            <a:avLst/>
          </a:prstGeom>
          <a:solidFill>
            <a:srgbClr val="7A5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95306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Segoe UI"/>
              </a:rPr>
              <a:t>☎️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5578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1876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5578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B0A0D0"/>
                </a:solidFill>
                <a:latin typeface="Segoe UI"/>
              </a:rPr>
              <a:t>Telefon</a:t>
            </a:r>
          </a:p>
        </p:txBody>
      </p:sp>
      <p:sp>
        <p:nvSpPr>
          <p:cNvPr id="16" name="Oval 15"/>
          <p:cNvSpPr/>
          <p:nvPr/>
        </p:nvSpPr>
        <p:spPr>
          <a:xfrm>
            <a:off x="2982637" y="2263139"/>
            <a:ext cx="164592" cy="164592"/>
          </a:xfrm>
          <a:prstGeom prst="ellipse">
            <a:avLst/>
          </a:prstGeom>
          <a:solidFill>
            <a:srgbClr val="8B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7733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Segoe UI"/>
              </a:rPr>
              <a:t>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8005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1895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8005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B0A0D0"/>
                </a:solidFill>
                <a:latin typeface="Segoe UI"/>
              </a:rPr>
              <a:t>Radio</a:t>
            </a:r>
          </a:p>
        </p:txBody>
      </p:sp>
      <p:sp>
        <p:nvSpPr>
          <p:cNvPr id="20" name="Oval 19"/>
          <p:cNvSpPr/>
          <p:nvPr/>
        </p:nvSpPr>
        <p:spPr>
          <a:xfrm>
            <a:off x="4195064" y="2263139"/>
            <a:ext cx="164592" cy="164592"/>
          </a:xfrm>
          <a:prstGeom prst="ellipse">
            <a:avLst/>
          </a:prstGeom>
          <a:solidFill>
            <a:srgbClr val="9B5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0160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Segoe UI"/>
              </a:rPr>
              <a:t>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0432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1927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0432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B0A0D0"/>
                </a:solidFill>
                <a:latin typeface="Segoe UI"/>
              </a:rPr>
              <a:t>Fernsehen</a:t>
            </a:r>
          </a:p>
        </p:txBody>
      </p:sp>
      <p:sp>
        <p:nvSpPr>
          <p:cNvPr id="24" name="Oval 23"/>
          <p:cNvSpPr/>
          <p:nvPr/>
        </p:nvSpPr>
        <p:spPr>
          <a:xfrm>
            <a:off x="5407490" y="2263139"/>
            <a:ext cx="164592" cy="164592"/>
          </a:xfrm>
          <a:prstGeom prst="ellipse">
            <a:avLst/>
          </a:prstGeom>
          <a:solidFill>
            <a:srgbClr val="AC5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32586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Segoe UI"/>
              </a:rPr>
              <a:t>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2858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1946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22858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B0A0D0"/>
                </a:solidFill>
                <a:latin typeface="Segoe UI"/>
              </a:rPr>
              <a:t>Computer</a:t>
            </a:r>
          </a:p>
        </p:txBody>
      </p:sp>
      <p:sp>
        <p:nvSpPr>
          <p:cNvPr id="28" name="Oval 27"/>
          <p:cNvSpPr/>
          <p:nvPr/>
        </p:nvSpPr>
        <p:spPr>
          <a:xfrm>
            <a:off x="6619917" y="2263139"/>
            <a:ext cx="164592" cy="164592"/>
          </a:xfrm>
          <a:prstGeom prst="ellipse">
            <a:avLst/>
          </a:prstGeom>
          <a:solidFill>
            <a:srgbClr val="BC6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45013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5285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1969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285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B0A0D0"/>
                </a:solidFill>
                <a:latin typeface="Segoe UI"/>
              </a:rPr>
              <a:t>Internet</a:t>
            </a:r>
          </a:p>
        </p:txBody>
      </p:sp>
      <p:sp>
        <p:nvSpPr>
          <p:cNvPr id="32" name="Oval 31"/>
          <p:cNvSpPr/>
          <p:nvPr/>
        </p:nvSpPr>
        <p:spPr>
          <a:xfrm>
            <a:off x="7832344" y="2263139"/>
            <a:ext cx="164592" cy="164592"/>
          </a:xfrm>
          <a:prstGeom prst="ellipse">
            <a:avLst/>
          </a:prstGeom>
          <a:solidFill>
            <a:srgbClr val="CD6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57440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712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1991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7712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B0A0D0"/>
                </a:solidFill>
                <a:latin typeface="Segoe UI"/>
              </a:rPr>
              <a:t>World Wide Web</a:t>
            </a:r>
          </a:p>
        </p:txBody>
      </p:sp>
      <p:sp>
        <p:nvSpPr>
          <p:cNvPr id="36" name="Oval 35"/>
          <p:cNvSpPr/>
          <p:nvPr/>
        </p:nvSpPr>
        <p:spPr>
          <a:xfrm>
            <a:off x="9044770" y="2263139"/>
            <a:ext cx="164592" cy="164592"/>
          </a:xfrm>
          <a:prstGeom prst="ellipse">
            <a:avLst/>
          </a:prstGeom>
          <a:solidFill>
            <a:srgbClr val="DD6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69866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0138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2007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0138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B0A0D0"/>
                </a:solidFill>
                <a:latin typeface="Segoe UI"/>
              </a:rPr>
              <a:t>Smartphone</a:t>
            </a:r>
          </a:p>
        </p:txBody>
      </p:sp>
      <p:sp>
        <p:nvSpPr>
          <p:cNvPr id="40" name="Oval 39"/>
          <p:cNvSpPr/>
          <p:nvPr/>
        </p:nvSpPr>
        <p:spPr>
          <a:xfrm>
            <a:off x="10257197" y="2263139"/>
            <a:ext cx="164592" cy="164592"/>
          </a:xfrm>
          <a:prstGeom prst="ellipse">
            <a:avLst/>
          </a:prstGeom>
          <a:solidFill>
            <a:srgbClr val="EE6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82293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Segoe UI"/>
              </a:rPr>
              <a:t>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72565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2022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2565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B0A0D0"/>
                </a:solidFill>
                <a:latin typeface="Segoe UI"/>
              </a:rPr>
              <a:t>Generative KI</a:t>
            </a:r>
          </a:p>
        </p:txBody>
      </p:sp>
      <p:sp>
        <p:nvSpPr>
          <p:cNvPr id="44" name="Oval 43"/>
          <p:cNvSpPr/>
          <p:nvPr/>
        </p:nvSpPr>
        <p:spPr>
          <a:xfrm>
            <a:off x="11469624" y="2263139"/>
            <a:ext cx="164592" cy="164592"/>
          </a:xfrm>
          <a:prstGeom prst="ellipse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094720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FFFFFF"/>
                </a:solidFill>
                <a:latin typeface="Segoe UI"/>
              </a:rPr>
              <a:t>⚛️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84992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84992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B0A0D0"/>
                </a:solidFill>
                <a:latin typeface="Segoe UI"/>
              </a:rPr>
              <a:t>Quanten­computer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" y="1261872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6699"/>
                </a:solidFill>
                <a:latin typeface="Segoe UI"/>
              </a:rPr>
              <a:t>← 426 Jahre 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84648" y="1261872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6699"/>
                </a:solidFill>
                <a:latin typeface="Segoe UI"/>
              </a:rPr>
              <a:t>← 23 Jahre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14816" y="1261872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6699"/>
                </a:solidFill>
                <a:latin typeface="Segoe UI"/>
              </a:rPr>
              <a:t>← 15 Jahre 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30968" y="1261872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6699"/>
                </a:solidFill>
                <a:latin typeface="Segoe UI"/>
              </a:rPr>
              <a:t>← 3 Jahre 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05288" y="44531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0A0D0"/>
                </a:solidFill>
                <a:latin typeface="Segoe UI"/>
              </a:rPr>
              <a:t>3,5 Jahre</a:t>
            </a:r>
          </a:p>
        </p:txBody>
      </p: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6256A7CF-BB65-EFA2-CE98-66191BBF2374}"/>
              </a:ext>
            </a:extLst>
          </p:cNvPr>
          <p:cNvGrpSpPr/>
          <p:nvPr/>
        </p:nvGrpSpPr>
        <p:grpSpPr>
          <a:xfrm>
            <a:off x="237743" y="3367902"/>
            <a:ext cx="11274552" cy="3028326"/>
            <a:chOff x="257339" y="3345873"/>
            <a:chExt cx="11274552" cy="3028326"/>
          </a:xfrm>
        </p:grpSpPr>
        <p:sp>
          <p:nvSpPr>
            <p:cNvPr id="52" name="Rounded Rectangle 51"/>
            <p:cNvSpPr/>
            <p:nvPr/>
          </p:nvSpPr>
          <p:spPr>
            <a:xfrm>
              <a:off x="257339" y="3345873"/>
              <a:ext cx="11274552" cy="3028326"/>
            </a:xfrm>
            <a:prstGeom prst="roundRect">
              <a:avLst/>
            </a:prstGeom>
            <a:solidFill>
              <a:srgbClr val="1A09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31520" y="3464745"/>
              <a:ext cx="10698480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b="1" dirty="0">
                  <a:solidFill>
                    <a:srgbClr val="FFFFFF"/>
                  </a:solidFill>
                  <a:latin typeface="Segoe UI"/>
                </a:rPr>
                <a:t>⚡  Wie schnell </a:t>
              </a:r>
              <a:r>
                <a:rPr sz="1800" b="1" dirty="0" err="1">
                  <a:solidFill>
                    <a:srgbClr val="FFFFFF"/>
                  </a:solidFill>
                  <a:latin typeface="Segoe UI"/>
                </a:rPr>
                <a:t>erreicht</a:t>
              </a:r>
              <a:r>
                <a:rPr sz="1800" b="1" dirty="0">
                  <a:solidFill>
                    <a:srgbClr val="FFFFFF"/>
                  </a:solidFill>
                  <a:latin typeface="Segoe UI"/>
                </a:rPr>
                <a:t> </a:t>
              </a:r>
              <a:r>
                <a:rPr sz="1800" b="1" dirty="0" err="1">
                  <a:solidFill>
                    <a:srgbClr val="FFFFFF"/>
                  </a:solidFill>
                  <a:latin typeface="Segoe UI"/>
                </a:rPr>
                <a:t>eine</a:t>
              </a:r>
              <a:r>
                <a:rPr sz="1800" b="1" dirty="0">
                  <a:solidFill>
                    <a:srgbClr val="FFFFFF"/>
                  </a:solidFill>
                  <a:latin typeface="Segoe UI"/>
                </a:rPr>
                <a:t> Technik 1 Million </a:t>
              </a:r>
              <a:r>
                <a:rPr sz="1800" b="1" dirty="0" err="1">
                  <a:solidFill>
                    <a:srgbClr val="FFFFFF"/>
                  </a:solidFill>
                  <a:latin typeface="Segoe UI"/>
                </a:rPr>
                <a:t>Nutzer</a:t>
              </a:r>
              <a:r>
                <a:rPr sz="1800" b="1" dirty="0">
                  <a:solidFill>
                    <a:srgbClr val="FFFFFF"/>
                  </a:solidFill>
                  <a:latin typeface="Segoe UI"/>
                </a:rPr>
                <a:t>?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31520" y="4196265"/>
              <a:ext cx="1783080" cy="32918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r>
                <a:rPr sz="1400" b="1">
                  <a:solidFill>
                    <a:srgbClr val="FFFFFF"/>
                  </a:solidFill>
                  <a:latin typeface="Segoe UI"/>
                </a:rPr>
                <a:t>Netflix</a:t>
              </a:r>
              <a:r>
                <a:rPr sz="1100">
                  <a:solidFill>
                    <a:srgbClr val="B0A0D0"/>
                  </a:solidFill>
                  <a:latin typeface="Segoe UI"/>
                </a:rPr>
                <a:t>  1999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2606040" y="4241985"/>
              <a:ext cx="7571232" cy="237744"/>
            </a:xfrm>
            <a:prstGeom prst="roundRect">
              <a:avLst/>
            </a:prstGeom>
            <a:solidFill>
              <a:srgbClr val="6C5A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31520" y="4616889"/>
              <a:ext cx="1783080" cy="32918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r>
                <a:rPr sz="1400" b="1">
                  <a:solidFill>
                    <a:srgbClr val="FFFFFF"/>
                  </a:solidFill>
                  <a:latin typeface="Segoe UI"/>
                </a:rPr>
                <a:t>Facebook</a:t>
              </a:r>
              <a:r>
                <a:rPr sz="1100">
                  <a:solidFill>
                    <a:srgbClr val="B0A0D0"/>
                  </a:solidFill>
                  <a:latin typeface="Segoe UI"/>
                </a:rPr>
                <a:t>  2004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2606040" y="4662609"/>
              <a:ext cx="4526280" cy="237744"/>
            </a:xfrm>
            <a:prstGeom prst="roundRect">
              <a:avLst/>
            </a:prstGeom>
            <a:solidFill>
              <a:srgbClr val="6C5A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260336" y="4607745"/>
              <a:ext cx="20116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0" dirty="0">
                  <a:solidFill>
                    <a:srgbClr val="B0A0D0"/>
                  </a:solidFill>
                  <a:latin typeface="Segoe UI"/>
                </a:rPr>
                <a:t>10 </a:t>
              </a:r>
              <a:r>
                <a:rPr sz="1300" b="0" dirty="0" err="1">
                  <a:solidFill>
                    <a:srgbClr val="B0A0D0"/>
                  </a:solidFill>
                  <a:latin typeface="Segoe UI"/>
                </a:rPr>
                <a:t>Monate</a:t>
              </a:r>
              <a:endParaRPr sz="1300" b="0" dirty="0">
                <a:solidFill>
                  <a:srgbClr val="B0A0D0"/>
                </a:solidFill>
                <a:latin typeface="Segoe UI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31520" y="5037513"/>
              <a:ext cx="1783080" cy="32918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r>
                <a:rPr sz="1400" b="1">
                  <a:solidFill>
                    <a:srgbClr val="FFFFFF"/>
                  </a:solidFill>
                  <a:latin typeface="Segoe UI"/>
                </a:rPr>
                <a:t>Spotify</a:t>
              </a:r>
              <a:r>
                <a:rPr sz="1100">
                  <a:solidFill>
                    <a:srgbClr val="B0A0D0"/>
                  </a:solidFill>
                  <a:latin typeface="Segoe UI"/>
                </a:rPr>
                <a:t>  2008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2606040" y="5083233"/>
              <a:ext cx="3127248" cy="237744"/>
            </a:xfrm>
            <a:prstGeom prst="roundRect">
              <a:avLst/>
            </a:prstGeom>
            <a:solidFill>
              <a:srgbClr val="6C5A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861303" y="5028369"/>
              <a:ext cx="20116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0">
                  <a:solidFill>
                    <a:srgbClr val="B0A0D0"/>
                  </a:solidFill>
                  <a:latin typeface="Segoe UI"/>
                </a:rPr>
                <a:t>5 Monate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31520" y="5458137"/>
              <a:ext cx="1783080" cy="32918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r>
                <a:rPr sz="1400" b="1">
                  <a:solidFill>
                    <a:srgbClr val="FFFFFF"/>
                  </a:solidFill>
                  <a:latin typeface="Segoe UI"/>
                </a:rPr>
                <a:t>Instagram</a:t>
              </a:r>
              <a:r>
                <a:rPr sz="1100">
                  <a:solidFill>
                    <a:srgbClr val="B0A0D0"/>
                  </a:solidFill>
                  <a:latin typeface="Segoe UI"/>
                </a:rPr>
                <a:t>  2010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2606040" y="5503857"/>
              <a:ext cx="1810512" cy="237744"/>
            </a:xfrm>
            <a:prstGeom prst="roundRect">
              <a:avLst/>
            </a:prstGeom>
            <a:solidFill>
              <a:srgbClr val="6C5A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544568" y="5448993"/>
              <a:ext cx="20116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0">
                  <a:solidFill>
                    <a:srgbClr val="B0A0D0"/>
                  </a:solidFill>
                  <a:latin typeface="Segoe UI"/>
                </a:rPr>
                <a:t>2,5 Monate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31520" y="5878761"/>
              <a:ext cx="1783080" cy="32918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r>
                <a:rPr sz="1400" b="1">
                  <a:solidFill>
                    <a:srgbClr val="FFFFFF"/>
                  </a:solidFill>
                  <a:latin typeface="Segoe UI"/>
                </a:rPr>
                <a:t>ChatGPT</a:t>
              </a:r>
              <a:r>
                <a:rPr sz="1100">
                  <a:solidFill>
                    <a:srgbClr val="B0A0D0"/>
                  </a:solidFill>
                  <a:latin typeface="Segoe UI"/>
                </a:rPr>
                <a:t>  2022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2606040" y="5924481"/>
              <a:ext cx="411480" cy="237744"/>
            </a:xfrm>
            <a:prstGeom prst="roundRect">
              <a:avLst/>
            </a:prstGeom>
            <a:solidFill>
              <a:srgbClr val="FF66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145536" y="5869617"/>
              <a:ext cx="20116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FF6699"/>
                  </a:solidFill>
                  <a:latin typeface="Segoe UI"/>
                </a:rPr>
                <a:t>5 Tage</a:t>
              </a:r>
            </a:p>
          </p:txBody>
        </p:sp>
        <p:sp>
          <p:nvSpPr>
            <p:cNvPr id="71" name="TextBox 58">
              <a:extLst>
                <a:ext uri="{FF2B5EF4-FFF2-40B4-BE49-F238E27FC236}">
                  <a16:creationId xmlns:a16="http://schemas.microsoft.com/office/drawing/2014/main" id="{1AF2C6FE-7DB3-DCBE-0E3B-7F6A68FB1090}"/>
                </a:ext>
              </a:extLst>
            </p:cNvPr>
            <p:cNvSpPr txBox="1"/>
            <p:nvPr/>
          </p:nvSpPr>
          <p:spPr>
            <a:xfrm>
              <a:off x="10304041" y="4241985"/>
              <a:ext cx="886968" cy="2000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de-DE" sz="1300" b="0" dirty="0">
                  <a:solidFill>
                    <a:srgbClr val="B0A0D0"/>
                  </a:solidFill>
                  <a:latin typeface="Segoe UI"/>
                </a:rPr>
                <a:t>3,5 Jahre</a:t>
              </a:r>
              <a:endParaRPr sz="1300" b="0" dirty="0">
                <a:solidFill>
                  <a:srgbClr val="B0A0D0"/>
                </a:solidFill>
                <a:latin typeface="Segoe UI"/>
              </a:endParaRPr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B0A0D0"/>
                </a:solidFill>
                <a:latin typeface="Segoe UI"/>
              </a:rPr>
              <a:t>Werte</a:t>
            </a:r>
            <a:r>
              <a:rPr sz="1300" b="0" dirty="0">
                <a:solidFill>
                  <a:srgbClr val="B0A0D0"/>
                </a:solidFill>
                <a:latin typeface="Segoe UI"/>
              </a:rPr>
              <a:t> = Zeit bis 1 Mio. </a:t>
            </a:r>
            <a:r>
              <a:rPr sz="1300" b="0" dirty="0" err="1">
                <a:solidFill>
                  <a:srgbClr val="B0A0D0"/>
                </a:solidFill>
                <a:latin typeface="Segoe UI"/>
              </a:rPr>
              <a:t>Nutzer</a:t>
            </a:r>
            <a:r>
              <a:rPr sz="1300" b="0" dirty="0">
                <a:solidFill>
                  <a:srgbClr val="B0A0D0"/>
                </a:solidFill>
                <a:latin typeface="Segoe UI"/>
              </a:rPr>
              <a:t>.   Zum </a:t>
            </a:r>
            <a:r>
              <a:rPr sz="1300" b="0" dirty="0" err="1">
                <a:solidFill>
                  <a:srgbClr val="B0A0D0"/>
                </a:solidFill>
                <a:latin typeface="Segoe UI"/>
              </a:rPr>
              <a:t>Vergleich</a:t>
            </a:r>
            <a:r>
              <a:rPr sz="1300" b="0" dirty="0">
                <a:solidFill>
                  <a:srgbClr val="B0A0D0"/>
                </a:solidFill>
                <a:latin typeface="Segoe UI"/>
              </a:rPr>
              <a:t> (bis 50 Mio.): Radio 38 Jahre · TV 13 Jahre · Internet 4 Jahre.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sp>
        <p:nvSpPr>
          <p:cNvPr id="1" name="Rectangl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457200"/>
            <a:ext cx="12188952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6400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KI-Modelle &amp; Anwendungen — Überblick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097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Lessing Gymnasium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949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Anwendungsarten: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58568" y="566928"/>
            <a:ext cx="3188208" cy="621792"/>
          </a:xfrm>
          <a:prstGeom prst="rect">
            <a:avLst/>
          </a:prstGeom>
          <a:solidFill>
            <a:srgbClr val="1D4ED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612648"/>
            <a:ext cx="305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💬 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914400"/>
            <a:ext cx="3051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Fragen stellen &amp; Antworten bekommen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529072" y="566928"/>
            <a:ext cx="3188208" cy="621792"/>
          </a:xfrm>
          <a:prstGeom prst="rect">
            <a:avLst/>
          </a:prstGeom>
          <a:solidFill>
            <a:srgbClr val="6D28D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0512" y="612648"/>
            <a:ext cx="305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🤖  KI-Assistent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0512" y="914400"/>
            <a:ext cx="3051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Aufgaben delegieren &amp; erledigen lassen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9576" y="566928"/>
            <a:ext cx="3188208" cy="621792"/>
          </a:xfrm>
          <a:prstGeom prst="rect">
            <a:avLst/>
          </a:prstGeom>
          <a:solidFill>
            <a:srgbClr val="0F76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1016" y="612648"/>
            <a:ext cx="305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⚡  Agent / Autopilot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1016" y="914400"/>
            <a:ext cx="3051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Selbstständig planen &amp; handeln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1298448"/>
            <a:ext cx="2884932" cy="233172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1298448"/>
            <a:ext cx="64008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389888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EE7B7"/>
                </a:solidFill>
              </a:rPr>
              <a:t>🟢  OpenAI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755648"/>
            <a:ext cx="2647188" cy="137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792224"/>
            <a:ext cx="2702052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GPT-3.5  (175 Mrd. Parameter)
  GPT-4o  (Text · Code · Vision)
  GPT-4.5  (Kreativität · Chat)
  Kontext: 128 000 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68396" y="1298448"/>
            <a:ext cx="2884932" cy="233172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68396" y="1298448"/>
            <a:ext cx="64008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87268" y="1389888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B5FD"/>
                </a:solidFill>
              </a:rPr>
              <a:t>🟣  Anthropic — Claude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7268" y="1755648"/>
            <a:ext cx="2647188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87268" y="1792224"/>
            <a:ext cx="2702052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Haiku  —  schnell &amp; günstig
  Sonnet  —  Allrounder
  Opus  —  Reasoning &amp; Analyse
  Kontext: 200 000 Token  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35624" y="1298448"/>
            <a:ext cx="2884932" cy="2331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35624" y="1298448"/>
            <a:ext cx="64008" cy="2331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1389888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DD3FC"/>
                </a:solidFill>
              </a:rPr>
              <a:t>🔵  Microsoft Copilot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54496" y="1755648"/>
            <a:ext cx="2647188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792224"/>
            <a:ext cx="2702052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Basiert auf GPT-Modellen
  + Bing-Suche  →  stets aktuell
  In Microsoft 365 integriert
  Word · Teams · Outlook · Edge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02852" y="1298448"/>
            <a:ext cx="2884932" cy="2331720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02852" y="1298448"/>
            <a:ext cx="64008" cy="2331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1724" y="1389888"/>
            <a:ext cx="27203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E68A"/>
                </a:solidFill>
              </a:rPr>
              <a:t>🟡  Gratis-Modelle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21724" y="1755648"/>
            <a:ext cx="2647188" cy="1371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21724" y="1792224"/>
            <a:ext cx="2702052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Llama 4  (Meta)  —  Open Source
  Phi-4  (Microsoft)  —  kompakt
  Mistral  (Frankreich)  —  Europa
  Gemma  (Google)  —  lokal nutzbar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" y="3730752"/>
            <a:ext cx="3874008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1168" y="3730752"/>
            <a:ext cx="64008" cy="22860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822191"/>
            <a:ext cx="3709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A8D4"/>
                </a:solidFill>
              </a:rPr>
              <a:t>🎨  Bild-KIs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187952"/>
            <a:ext cx="3636264" cy="1371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224528"/>
            <a:ext cx="369112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DALL-E 3  (OpenAI)
  Gemini Imagen  (Google)
  Midjourney  (eigenständig)
  MS Designer / MAI  (DALL-E-Basis)
  Stable Diffusion  (Open Source)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57472" y="3730752"/>
            <a:ext cx="3874008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57472" y="3730752"/>
            <a:ext cx="64008" cy="22860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76344" y="3822191"/>
            <a:ext cx="3709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CA5A5"/>
                </a:solidFill>
              </a:rPr>
              <a:t>🎬  Video-KIs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6344" y="4187952"/>
            <a:ext cx="3636264" cy="1371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6344" y="4224528"/>
            <a:ext cx="369112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Sora  (OpenAI)  —  Text → Video
  RunwayML  —  Profi-Tool
  Pika  —  einfach &amp; schnell
  Kling  —  sehr hohe Qualität
  Gemini Video  (Google)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13776" y="3730752"/>
            <a:ext cx="3874008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13776" y="3730752"/>
            <a:ext cx="64008" cy="2286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32648" y="3822191"/>
            <a:ext cx="3709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EE7B7"/>
                </a:solidFill>
              </a:rPr>
              <a:t>🏥  Spezial-KIs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32648" y="4187952"/>
            <a:ext cx="3636264" cy="1371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32648" y="4224528"/>
            <a:ext cx="3691128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Med-PaLM 2  (Google)  — Medizin
  Harvey  — Rechtswesen
  Khanmigo  — Bildung / Schule
  GitHub Copilot  — Programmierung
  Perplexity  — KI-Suchmaschine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1168" y="6099048"/>
            <a:ext cx="11786616" cy="237744"/>
          </a:xfrm>
          <a:prstGeom prst="rect">
            <a:avLst/>
          </a:prstGeom>
          <a:solidFill>
            <a:srgbClr val="1E293B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8" y="6126480"/>
            <a:ext cx="115580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</a:rPr>
              <a:t>⚡ Token = kleinste Texteinheit (~4 Zeichen)   |   Kontext-Fenster: Claude 200K  ·  GPT-4 128K  ·  Gemini 2M  ·  Llama 128K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6784848"/>
            <a:ext cx="182880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" b="0">
                <a:solidFill>
                  <a:srgbClr val="FFFFFF"/>
                </a:solidFill>
                <a:latin typeface="Segoe UI"/>
              </a:rPr>
              <a:t>MEILENSTEIN_FOLIE_V1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dirty="0">
                <a:solidFill>
                  <a:srgbClr val="C2185B"/>
                </a:solidFill>
                <a:latin typeface="Segoe UI"/>
              </a:rPr>
              <a:t>④  </a:t>
            </a:r>
            <a:r>
              <a:rPr sz="2600" b="1" dirty="0" err="1">
                <a:solidFill>
                  <a:srgbClr val="C2185B"/>
                </a:solidFill>
                <a:latin typeface="Segoe UI"/>
              </a:rPr>
              <a:t>Vom</a:t>
            </a:r>
            <a:r>
              <a:rPr sz="2600" b="1" dirty="0">
                <a:solidFill>
                  <a:srgbClr val="C2185B"/>
                </a:solidFill>
                <a:latin typeface="Segoe UI"/>
              </a:rPr>
              <a:t> </a:t>
            </a:r>
            <a:r>
              <a:rPr sz="2600" b="1" dirty="0" err="1">
                <a:solidFill>
                  <a:srgbClr val="C2185B"/>
                </a:solidFill>
                <a:latin typeface="Segoe UI"/>
              </a:rPr>
              <a:t>Buchdruck</a:t>
            </a:r>
            <a:r>
              <a:rPr sz="2600" b="1" dirty="0">
                <a:solidFill>
                  <a:srgbClr val="C2185B"/>
                </a:solidFill>
                <a:latin typeface="Segoe UI"/>
              </a:rPr>
              <a:t> </a:t>
            </a:r>
            <a:r>
              <a:rPr sz="2600" b="1" dirty="0" err="1">
                <a:solidFill>
                  <a:srgbClr val="C2185B"/>
                </a:solidFill>
                <a:latin typeface="Segoe UI"/>
              </a:rPr>
              <a:t>zur</a:t>
            </a:r>
            <a:r>
              <a:rPr sz="2600" b="1" dirty="0">
                <a:solidFill>
                  <a:srgbClr val="C2185B"/>
                </a:solidFill>
                <a:latin typeface="Segoe UI"/>
              </a:rPr>
              <a:t> 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494063"/>
                </a:solidFill>
                <a:latin typeface="Segoe UI"/>
              </a:rPr>
              <a:t>Die Innovationszyklen werden immer kürzer — Technik beschleunigt sich selbst.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0911840" cy="32004"/>
          </a:xfrm>
          <a:prstGeom prst="rect">
            <a:avLst/>
          </a:prstGeom>
          <a:solidFill>
            <a:srgbClr val="4A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57784" y="2263139"/>
            <a:ext cx="164592" cy="164592"/>
          </a:xfrm>
          <a:prstGeom prst="ellipse">
            <a:avLst/>
          </a:prstGeom>
          <a:solidFill>
            <a:srgbClr val="6A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79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1A1A2E"/>
                </a:solidFill>
                <a:latin typeface="Segoe UI"/>
              </a:rPr>
              <a:t>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Segoe UI"/>
              </a:rPr>
              <a:t>1450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494063"/>
                </a:solidFill>
                <a:latin typeface="Segoe UI"/>
              </a:rPr>
              <a:t>Buchdruck</a:t>
            </a:r>
          </a:p>
        </p:txBody>
      </p:sp>
      <p:sp>
        <p:nvSpPr>
          <p:cNvPr id="12" name="Oval 11"/>
          <p:cNvSpPr/>
          <p:nvPr/>
        </p:nvSpPr>
        <p:spPr>
          <a:xfrm>
            <a:off x="1770210" y="2263139"/>
            <a:ext cx="164592" cy="164592"/>
          </a:xfrm>
          <a:prstGeom prst="ellipse">
            <a:avLst/>
          </a:prstGeom>
          <a:solidFill>
            <a:srgbClr val="7A5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95306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1A1A2E"/>
                </a:solidFill>
                <a:latin typeface="Segoe UI"/>
              </a:rPr>
              <a:t>☎️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5578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Segoe UI"/>
              </a:rPr>
              <a:t>1876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5578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494063"/>
                </a:solidFill>
                <a:latin typeface="Segoe UI"/>
              </a:rPr>
              <a:t>Telefon</a:t>
            </a:r>
          </a:p>
        </p:txBody>
      </p:sp>
      <p:sp>
        <p:nvSpPr>
          <p:cNvPr id="16" name="Oval 15"/>
          <p:cNvSpPr/>
          <p:nvPr/>
        </p:nvSpPr>
        <p:spPr>
          <a:xfrm>
            <a:off x="2982637" y="2263139"/>
            <a:ext cx="164592" cy="164592"/>
          </a:xfrm>
          <a:prstGeom prst="ellipse">
            <a:avLst/>
          </a:prstGeom>
          <a:solidFill>
            <a:srgbClr val="8B5C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7733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1A1A2E"/>
                </a:solidFill>
                <a:latin typeface="Segoe UI"/>
              </a:rPr>
              <a:t>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8005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Segoe UI"/>
              </a:rPr>
              <a:t>1895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8005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494063"/>
                </a:solidFill>
                <a:latin typeface="Segoe UI"/>
              </a:rPr>
              <a:t>Radio</a:t>
            </a:r>
          </a:p>
        </p:txBody>
      </p:sp>
      <p:sp>
        <p:nvSpPr>
          <p:cNvPr id="20" name="Oval 19"/>
          <p:cNvSpPr/>
          <p:nvPr/>
        </p:nvSpPr>
        <p:spPr>
          <a:xfrm>
            <a:off x="4195064" y="2263139"/>
            <a:ext cx="164592" cy="164592"/>
          </a:xfrm>
          <a:prstGeom prst="ellipse">
            <a:avLst/>
          </a:prstGeom>
          <a:solidFill>
            <a:srgbClr val="9B5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0160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1A1A2E"/>
                </a:solidFill>
                <a:latin typeface="Segoe UI"/>
              </a:rPr>
              <a:t>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0432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Segoe UI"/>
              </a:rPr>
              <a:t>1927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0432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494063"/>
                </a:solidFill>
                <a:latin typeface="Segoe UI"/>
              </a:rPr>
              <a:t>Fernsehen</a:t>
            </a:r>
          </a:p>
        </p:txBody>
      </p:sp>
      <p:sp>
        <p:nvSpPr>
          <p:cNvPr id="24" name="Oval 23"/>
          <p:cNvSpPr/>
          <p:nvPr/>
        </p:nvSpPr>
        <p:spPr>
          <a:xfrm>
            <a:off x="5407490" y="2263139"/>
            <a:ext cx="164592" cy="164592"/>
          </a:xfrm>
          <a:prstGeom prst="ellipse">
            <a:avLst/>
          </a:prstGeom>
          <a:solidFill>
            <a:srgbClr val="AC5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32586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1A1A2E"/>
                </a:solidFill>
                <a:latin typeface="Segoe UI"/>
              </a:rPr>
              <a:t>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2858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Segoe UI"/>
              </a:rPr>
              <a:t>1946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22858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494063"/>
                </a:solidFill>
                <a:latin typeface="Segoe UI"/>
              </a:rPr>
              <a:t>Computer</a:t>
            </a:r>
          </a:p>
        </p:txBody>
      </p:sp>
      <p:sp>
        <p:nvSpPr>
          <p:cNvPr id="28" name="Oval 27"/>
          <p:cNvSpPr/>
          <p:nvPr/>
        </p:nvSpPr>
        <p:spPr>
          <a:xfrm>
            <a:off x="6619917" y="2263139"/>
            <a:ext cx="164592" cy="164592"/>
          </a:xfrm>
          <a:prstGeom prst="ellipse">
            <a:avLst/>
          </a:prstGeom>
          <a:solidFill>
            <a:srgbClr val="BC60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45013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1A1A2E"/>
                </a:solidFill>
                <a:latin typeface="Segoe UI"/>
              </a:rPr>
              <a:t>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5285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Segoe UI"/>
              </a:rPr>
              <a:t>1969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285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494063"/>
                </a:solidFill>
                <a:latin typeface="Segoe UI"/>
              </a:rPr>
              <a:t>Internet</a:t>
            </a:r>
          </a:p>
        </p:txBody>
      </p:sp>
      <p:sp>
        <p:nvSpPr>
          <p:cNvPr id="32" name="Oval 31"/>
          <p:cNvSpPr/>
          <p:nvPr/>
        </p:nvSpPr>
        <p:spPr>
          <a:xfrm>
            <a:off x="7832344" y="2263139"/>
            <a:ext cx="164592" cy="164592"/>
          </a:xfrm>
          <a:prstGeom prst="ellipse">
            <a:avLst/>
          </a:prstGeom>
          <a:solidFill>
            <a:srgbClr val="CD62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57440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1A1A2E"/>
                </a:solidFill>
                <a:latin typeface="Segoe UI"/>
              </a:rPr>
              <a:t>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712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Segoe UI"/>
              </a:rPr>
              <a:t>1991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7712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494063"/>
                </a:solidFill>
                <a:latin typeface="Segoe UI"/>
              </a:rPr>
              <a:t>World Wide Web</a:t>
            </a:r>
          </a:p>
        </p:txBody>
      </p:sp>
      <p:sp>
        <p:nvSpPr>
          <p:cNvPr id="36" name="Oval 35"/>
          <p:cNvSpPr/>
          <p:nvPr/>
        </p:nvSpPr>
        <p:spPr>
          <a:xfrm>
            <a:off x="9044770" y="2263139"/>
            <a:ext cx="164592" cy="164592"/>
          </a:xfrm>
          <a:prstGeom prst="ellipse">
            <a:avLst/>
          </a:prstGeom>
          <a:solidFill>
            <a:srgbClr val="DD6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69866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1A1A2E"/>
                </a:solidFill>
                <a:latin typeface="Segoe UI"/>
              </a:rPr>
              <a:t>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60138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Segoe UI"/>
              </a:rPr>
              <a:t>2007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0138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494063"/>
                </a:solidFill>
                <a:latin typeface="Segoe UI"/>
              </a:rPr>
              <a:t>Smartphone</a:t>
            </a:r>
          </a:p>
        </p:txBody>
      </p:sp>
      <p:sp>
        <p:nvSpPr>
          <p:cNvPr id="40" name="Oval 39"/>
          <p:cNvSpPr/>
          <p:nvPr/>
        </p:nvSpPr>
        <p:spPr>
          <a:xfrm>
            <a:off x="10257197" y="2263139"/>
            <a:ext cx="164592" cy="164592"/>
          </a:xfrm>
          <a:prstGeom prst="ellipse">
            <a:avLst/>
          </a:prstGeom>
          <a:solidFill>
            <a:srgbClr val="EE6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82293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1A1A2E"/>
                </a:solidFill>
                <a:latin typeface="Segoe UI"/>
              </a:rPr>
              <a:t>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72565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Segoe UI"/>
              </a:rPr>
              <a:t>2022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2565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494063"/>
                </a:solidFill>
                <a:latin typeface="Segoe UI"/>
              </a:rPr>
              <a:t>Generative KI</a:t>
            </a:r>
          </a:p>
        </p:txBody>
      </p:sp>
      <p:sp>
        <p:nvSpPr>
          <p:cNvPr id="44" name="Oval 43"/>
          <p:cNvSpPr/>
          <p:nvPr/>
        </p:nvSpPr>
        <p:spPr>
          <a:xfrm>
            <a:off x="11469624" y="2263139"/>
            <a:ext cx="164592" cy="164592"/>
          </a:xfrm>
          <a:prstGeom prst="ellipse">
            <a:avLst/>
          </a:prstGeom>
          <a:solidFill>
            <a:srgbClr val="FF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094720" y="1444752"/>
            <a:ext cx="914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1A1A2E"/>
                </a:solidFill>
                <a:latin typeface="Segoe UI"/>
              </a:rPr>
              <a:t>⚛️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84992" y="245059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1A1A2E"/>
                </a:solidFill>
                <a:latin typeface="Segoe UI"/>
              </a:rPr>
              <a:t>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84992" y="2761488"/>
            <a:ext cx="1133856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50" b="0">
                <a:solidFill>
                  <a:srgbClr val="494063"/>
                </a:solidFill>
                <a:latin typeface="Segoe UI"/>
              </a:rPr>
              <a:t>Quanten­computer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" y="1261872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dirty="0">
                <a:solidFill>
                  <a:srgbClr val="C2185B"/>
                </a:solidFill>
                <a:latin typeface="Segoe UI"/>
              </a:rPr>
              <a:t>← 426 Jahre 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84648" y="1261872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C2185B"/>
                </a:solidFill>
                <a:latin typeface="Segoe UI"/>
              </a:rPr>
              <a:t>← 23 Jahre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14816" y="1261872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C2185B"/>
                </a:solidFill>
                <a:latin typeface="Segoe UI"/>
              </a:rPr>
              <a:t>← 15 Jahre 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30968" y="1261872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C2185B"/>
                </a:solidFill>
                <a:latin typeface="Segoe UI"/>
              </a:rPr>
              <a:t>← 3 Jahre →</a:t>
            </a:r>
          </a:p>
        </p:txBody>
      </p: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8A45E500-ECBA-2545-DB6B-A7E771791269}"/>
              </a:ext>
            </a:extLst>
          </p:cNvPr>
          <p:cNvGrpSpPr/>
          <p:nvPr/>
        </p:nvGrpSpPr>
        <p:grpSpPr>
          <a:xfrm>
            <a:off x="610456" y="3532909"/>
            <a:ext cx="11135253" cy="2637213"/>
            <a:chOff x="731520" y="3836739"/>
            <a:chExt cx="11585448" cy="2637213"/>
          </a:xfrm>
        </p:grpSpPr>
        <p:sp>
          <p:nvSpPr>
            <p:cNvPr id="56" name="TextBox 55"/>
            <p:cNvSpPr txBox="1"/>
            <p:nvPr/>
          </p:nvSpPr>
          <p:spPr>
            <a:xfrm>
              <a:off x="10305288" y="4453128"/>
              <a:ext cx="20116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0" dirty="0">
                  <a:solidFill>
                    <a:srgbClr val="494063"/>
                  </a:solidFill>
                  <a:latin typeface="Segoe UI"/>
                </a:rPr>
                <a:t>3,5 Jahre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31520" y="3836739"/>
              <a:ext cx="10698480" cy="3840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b="1" dirty="0">
                  <a:solidFill>
                    <a:srgbClr val="1A1A2E"/>
                  </a:solidFill>
                  <a:latin typeface="Segoe UI"/>
                </a:rPr>
                <a:t>⚡  Wie schnell </a:t>
              </a:r>
              <a:r>
                <a:rPr sz="1800" b="1" dirty="0" err="1">
                  <a:solidFill>
                    <a:srgbClr val="1A1A2E"/>
                  </a:solidFill>
                  <a:latin typeface="Segoe UI"/>
                </a:rPr>
                <a:t>erreicht</a:t>
              </a:r>
              <a:r>
                <a:rPr sz="1800" b="1" dirty="0">
                  <a:solidFill>
                    <a:srgbClr val="1A1A2E"/>
                  </a:solidFill>
                  <a:latin typeface="Segoe UI"/>
                </a:rPr>
                <a:t> </a:t>
              </a:r>
              <a:r>
                <a:rPr sz="1800" b="1" dirty="0" err="1">
                  <a:solidFill>
                    <a:srgbClr val="1A1A2E"/>
                  </a:solidFill>
                  <a:latin typeface="Segoe UI"/>
                </a:rPr>
                <a:t>eine</a:t>
              </a:r>
              <a:r>
                <a:rPr sz="1800" b="1" dirty="0">
                  <a:solidFill>
                    <a:srgbClr val="1A1A2E"/>
                  </a:solidFill>
                  <a:latin typeface="Segoe UI"/>
                </a:rPr>
                <a:t> Technik 1 Million </a:t>
              </a:r>
              <a:r>
                <a:rPr sz="1800" b="1" dirty="0" err="1">
                  <a:solidFill>
                    <a:srgbClr val="1A1A2E"/>
                  </a:solidFill>
                  <a:latin typeface="Segoe UI"/>
                </a:rPr>
                <a:t>Nutzer</a:t>
              </a:r>
              <a:r>
                <a:rPr sz="1800" b="1" dirty="0">
                  <a:solidFill>
                    <a:srgbClr val="1A1A2E"/>
                  </a:solidFill>
                  <a:latin typeface="Segoe UI"/>
                </a:rPr>
                <a:t>?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31520" y="4462272"/>
              <a:ext cx="1783080" cy="32918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r>
                <a:rPr sz="1400" b="1">
                  <a:solidFill>
                    <a:srgbClr val="1A1A2E"/>
                  </a:solidFill>
                  <a:latin typeface="Segoe UI"/>
                </a:rPr>
                <a:t>Netflix</a:t>
              </a:r>
              <a:r>
                <a:rPr sz="1100">
                  <a:solidFill>
                    <a:srgbClr val="494063"/>
                  </a:solidFill>
                  <a:latin typeface="Segoe UI"/>
                </a:rPr>
                <a:t>  1999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2606040" y="4507992"/>
              <a:ext cx="7571232" cy="237744"/>
            </a:xfrm>
            <a:prstGeom prst="roundRect">
              <a:avLst/>
            </a:prstGeom>
            <a:solidFill>
              <a:srgbClr val="6C5A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31520" y="4882896"/>
              <a:ext cx="1783080" cy="32918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r>
                <a:rPr sz="1400" b="1">
                  <a:solidFill>
                    <a:srgbClr val="1A1A2E"/>
                  </a:solidFill>
                  <a:latin typeface="Segoe UI"/>
                </a:rPr>
                <a:t>Facebook</a:t>
              </a:r>
              <a:r>
                <a:rPr sz="1100">
                  <a:solidFill>
                    <a:srgbClr val="494063"/>
                  </a:solidFill>
                  <a:latin typeface="Segoe UI"/>
                </a:rPr>
                <a:t>  2004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2606040" y="4928616"/>
              <a:ext cx="4526280" cy="237744"/>
            </a:xfrm>
            <a:prstGeom prst="roundRect">
              <a:avLst/>
            </a:prstGeom>
            <a:solidFill>
              <a:srgbClr val="6C5A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260336" y="4873752"/>
              <a:ext cx="20116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0">
                  <a:solidFill>
                    <a:srgbClr val="494063"/>
                  </a:solidFill>
                  <a:latin typeface="Segoe UI"/>
                </a:rPr>
                <a:t>10 Monate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31520" y="5303520"/>
              <a:ext cx="1783080" cy="32918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r>
                <a:rPr sz="1400" b="1">
                  <a:solidFill>
                    <a:srgbClr val="1A1A2E"/>
                  </a:solidFill>
                  <a:latin typeface="Segoe UI"/>
                </a:rPr>
                <a:t>Spotify</a:t>
              </a:r>
              <a:r>
                <a:rPr sz="1100">
                  <a:solidFill>
                    <a:srgbClr val="494063"/>
                  </a:solidFill>
                  <a:latin typeface="Segoe UI"/>
                </a:rPr>
                <a:t>  2008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2606040" y="5349240"/>
              <a:ext cx="3127248" cy="237744"/>
            </a:xfrm>
            <a:prstGeom prst="roundRect">
              <a:avLst/>
            </a:prstGeom>
            <a:solidFill>
              <a:srgbClr val="6C5A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861303" y="5294376"/>
              <a:ext cx="20116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0">
                  <a:solidFill>
                    <a:srgbClr val="494063"/>
                  </a:solidFill>
                  <a:latin typeface="Segoe UI"/>
                </a:rPr>
                <a:t>5 Monate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31520" y="5724144"/>
              <a:ext cx="1783080" cy="32918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r>
                <a:rPr sz="1400" b="1">
                  <a:solidFill>
                    <a:srgbClr val="1A1A2E"/>
                  </a:solidFill>
                  <a:latin typeface="Segoe UI"/>
                </a:rPr>
                <a:t>Instagram</a:t>
              </a:r>
              <a:r>
                <a:rPr sz="1100">
                  <a:solidFill>
                    <a:srgbClr val="494063"/>
                  </a:solidFill>
                  <a:latin typeface="Segoe UI"/>
                </a:rPr>
                <a:t>  2010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2606040" y="5769864"/>
              <a:ext cx="1810512" cy="237744"/>
            </a:xfrm>
            <a:prstGeom prst="roundRect">
              <a:avLst/>
            </a:prstGeom>
            <a:solidFill>
              <a:srgbClr val="6C5A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544568" y="5715000"/>
              <a:ext cx="20116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0">
                  <a:solidFill>
                    <a:srgbClr val="494063"/>
                  </a:solidFill>
                  <a:latin typeface="Segoe UI"/>
                </a:rPr>
                <a:t>2,5 Monate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31520" y="6144768"/>
              <a:ext cx="1783080" cy="32918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r>
                <a:rPr sz="1400" b="1">
                  <a:solidFill>
                    <a:srgbClr val="1A1A2E"/>
                  </a:solidFill>
                  <a:latin typeface="Segoe UI"/>
                </a:rPr>
                <a:t>ChatGPT</a:t>
              </a:r>
              <a:r>
                <a:rPr sz="1100">
                  <a:solidFill>
                    <a:srgbClr val="494063"/>
                  </a:solidFill>
                  <a:latin typeface="Segoe UI"/>
                </a:rPr>
                <a:t>  2022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2606040" y="6190488"/>
              <a:ext cx="411480" cy="237744"/>
            </a:xfrm>
            <a:prstGeom prst="roundRect">
              <a:avLst/>
            </a:prstGeom>
            <a:solidFill>
              <a:srgbClr val="FF66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145536" y="6135624"/>
              <a:ext cx="20116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C2185B"/>
                  </a:solidFill>
                  <a:latin typeface="Segoe UI"/>
                </a:rPr>
                <a:t>5 Tage</a:t>
              </a:r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640079" y="6434467"/>
            <a:ext cx="106984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 dirty="0" err="1">
                <a:solidFill>
                  <a:srgbClr val="5E5280"/>
                </a:solidFill>
                <a:latin typeface="Segoe UI"/>
              </a:rPr>
              <a:t>Werte</a:t>
            </a:r>
            <a:r>
              <a:rPr sz="1300" b="0" dirty="0">
                <a:solidFill>
                  <a:srgbClr val="5E5280"/>
                </a:solidFill>
                <a:latin typeface="Segoe UI"/>
              </a:rPr>
              <a:t> = Zeit bis 1 Mio. </a:t>
            </a:r>
            <a:r>
              <a:rPr sz="1300" b="0" dirty="0" err="1">
                <a:solidFill>
                  <a:srgbClr val="5E5280"/>
                </a:solidFill>
                <a:latin typeface="Segoe UI"/>
              </a:rPr>
              <a:t>Nutzer</a:t>
            </a:r>
            <a:r>
              <a:rPr sz="1300" b="0" dirty="0">
                <a:solidFill>
                  <a:srgbClr val="5E5280"/>
                </a:solidFill>
                <a:latin typeface="Segoe UI"/>
              </a:rPr>
              <a:t>.   Zum </a:t>
            </a:r>
            <a:r>
              <a:rPr sz="1300" b="0" dirty="0" err="1">
                <a:solidFill>
                  <a:srgbClr val="5E5280"/>
                </a:solidFill>
                <a:latin typeface="Segoe UI"/>
              </a:rPr>
              <a:t>Vergleich</a:t>
            </a:r>
            <a:r>
              <a:rPr sz="1300" b="0" dirty="0">
                <a:solidFill>
                  <a:srgbClr val="5E5280"/>
                </a:solidFill>
                <a:latin typeface="Segoe UI"/>
              </a:rPr>
              <a:t> (bis 50 Mio.): Radio 38 Jahre · TV 13 Jahre · Internet 4 Jahre.</a:t>
            </a:r>
          </a:p>
        </p:txBody>
      </p:sp>
      <p:sp>
        <p:nvSpPr>
          <p:cNvPr id="73" name="Rechteck: abgerundete Ecken 72">
            <a:extLst>
              <a:ext uri="{FF2B5EF4-FFF2-40B4-BE49-F238E27FC236}">
                <a16:creationId xmlns:a16="http://schemas.microsoft.com/office/drawing/2014/main" id="{CD719003-06DB-2444-2313-0A96ABDF13E3}"/>
              </a:ext>
            </a:extLst>
          </p:cNvPr>
          <p:cNvSpPr/>
          <p:nvPr/>
        </p:nvSpPr>
        <p:spPr>
          <a:xfrm>
            <a:off x="394716" y="3262330"/>
            <a:ext cx="11402568" cy="2999232"/>
          </a:xfrm>
          <a:prstGeom prst="roundRect">
            <a:avLst/>
          </a:prstGeom>
          <a:noFill/>
          <a:ln w="38100">
            <a:solidFill>
              <a:srgbClr val="6C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1136</Words>
  <Application>Microsoft Office PowerPoint</Application>
  <PresentationFormat>Breitbild</PresentationFormat>
  <Paragraphs>249</Paragraphs>
  <Slides>4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Segoe UI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 Mandel</cp:lastModifiedBy>
  <cp:revision>1</cp:revision>
  <dcterms:created xsi:type="dcterms:W3CDTF">2013-01-27T09:14:16Z</dcterms:created>
  <dcterms:modified xsi:type="dcterms:W3CDTF">2026-05-20T21:29:50Z</dcterms:modified>
  <cp:category/>
</cp:coreProperties>
</file>