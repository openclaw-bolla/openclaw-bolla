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Mandel" userId="52539b07421473cf" providerId="LiveId" clId="{57B4768D-02BE-452A-9D63-8125C7D755DB}"/>
    <pc:docChg chg="modSld">
      <pc:chgData name="Chris Mandel" userId="52539b07421473cf" providerId="LiveId" clId="{57B4768D-02BE-452A-9D63-8125C7D755DB}" dt="2026-04-29T16:22:00.956" v="15" actId="14100"/>
      <pc:docMkLst>
        <pc:docMk/>
      </pc:docMkLst>
      <pc:sldChg chg="modSp mod">
        <pc:chgData name="Chris Mandel" userId="52539b07421473cf" providerId="LiveId" clId="{57B4768D-02BE-452A-9D63-8125C7D755DB}" dt="2026-04-29T16:22:00.956" v="15" actId="14100"/>
        <pc:sldMkLst>
          <pc:docMk/>
          <pc:sldMk cId="0" sldId="256"/>
        </pc:sldMkLst>
        <pc:spChg chg="mod">
          <ac:chgData name="Chris Mandel" userId="52539b07421473cf" providerId="LiveId" clId="{57B4768D-02BE-452A-9D63-8125C7D755DB}" dt="2026-04-29T16:20:46.527" v="0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46.527" v="0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46.527" v="0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53.942" v="1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53.942" v="1" actId="1076"/>
          <ac:spMkLst>
            <pc:docMk/>
            <pc:sldMk cId="0" sldId="256"/>
            <ac:spMk id="20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0:53.942" v="1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02.490" v="2" actId="1076"/>
          <ac:spMkLst>
            <pc:docMk/>
            <pc:sldMk cId="0" sldId="256"/>
            <ac:spMk id="24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02.490" v="2" actId="1076"/>
          <ac:spMkLst>
            <pc:docMk/>
            <pc:sldMk cId="0" sldId="256"/>
            <ac:spMk id="25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02.490" v="2" actId="1076"/>
          <ac:spMkLst>
            <pc:docMk/>
            <pc:sldMk cId="0" sldId="256"/>
            <ac:spMk id="26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46.099" v="4" actId="1076"/>
          <ac:spMkLst>
            <pc:docMk/>
            <pc:sldMk cId="0" sldId="256"/>
            <ac:spMk id="81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1:56.565" v="14" actId="1038"/>
          <ac:spMkLst>
            <pc:docMk/>
            <pc:sldMk cId="0" sldId="256"/>
            <ac:spMk id="99" creationId="{00000000-0000-0000-0000-000000000000}"/>
          </ac:spMkLst>
        </pc:spChg>
        <pc:spChg chg="mod">
          <ac:chgData name="Chris Mandel" userId="52539b07421473cf" providerId="LiveId" clId="{57B4768D-02BE-452A-9D63-8125C7D755DB}" dt="2026-04-29T16:22:00.956" v="15" actId="14100"/>
          <ac:spMkLst>
            <pc:docMk/>
            <pc:sldMk cId="0" sldId="256"/>
            <ac:spMk id="10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0B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00000"/>
          </a:xfrm>
          <a:prstGeom prst="rect">
            <a:avLst/>
          </a:prstGeom>
          <a:solidFill>
            <a:srgbClr val="120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84000"/>
            <a:ext cx="12192000" cy="160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60000" y="55000"/>
            <a:ext cx="11672000" cy="2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Segoe UI"/>
              </a:rPr>
              <a:t>KI-Unterstützung für Lehrerinnen und Lehrer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92000" y="100000"/>
            <a:ext cx="2750000" cy="2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A0D0"/>
                </a:solidFill>
                <a:latin typeface="Segoe UI"/>
              </a:rPr>
              <a:t>Lessing Gymnasium ·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000" y="460000"/>
            <a:ext cx="11672000" cy="1700000"/>
          </a:xfrm>
          <a:prstGeom prst="rect">
            <a:avLst/>
          </a:prstGeom>
          <a:solidFill>
            <a:srgbClr val="1A0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0000" y="460000"/>
            <a:ext cx="30000" cy="17000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0000" y="530000"/>
            <a:ext cx="42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699"/>
                </a:solidFill>
                <a:latin typeface="Segoe UI"/>
              </a:rPr>
              <a:t>① Der KI-Assistent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" y="800000"/>
            <a:ext cx="4200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z. B. OpenClaw · Claude Code · ChatGPT-App · Gemini Advanced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000" y="1030000"/>
            <a:ext cx="42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A0D0"/>
                </a:solidFill>
                <a:latin typeface="Segoe UI"/>
              </a:rPr>
              <a:t>Der Assistent ist das Frontend — die Oberfläche.
Das KI-Modell dahinter kann jederzeit gewechselt werden.
Wie ein Browser: er zeigt Inhalte an — die Website
(= das Modell) kann eine andere sein.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800" y="540000"/>
            <a:ext cx="14000" cy="1540000"/>
          </a:xfrm>
          <a:prstGeom prst="rect">
            <a:avLst/>
          </a:prstGeom>
          <a:solidFill>
            <a:srgbClr val="351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98720" y="613000"/>
            <a:ext cx="2244426" cy="13940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98720" y="603140"/>
            <a:ext cx="224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FFFFFF"/>
                </a:solidFill>
                <a:latin typeface="Segoe UI"/>
              </a:rPr>
              <a:t>🧑‍💻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8720" y="1104980"/>
            <a:ext cx="2204426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Assistent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3720" y="1411660"/>
            <a:ext cx="221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 err="1">
                <a:solidFill>
                  <a:srgbClr val="FFFFFF"/>
                </a:solidFill>
                <a:latin typeface="Segoe UI"/>
              </a:rPr>
              <a:t>OpenClaw</a:t>
            </a:r>
            <a:r>
              <a:rPr sz="1100" b="0" i="0" dirty="0">
                <a:solidFill>
                  <a:srgbClr val="FFFFFF"/>
                </a:solidFill>
                <a:latin typeface="Segoe UI"/>
              </a:rPr>
              <a:t>
Claude Code
ChatGPT-App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3146" y="1142720"/>
            <a:ext cx="60000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A0D0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23146" y="613000"/>
            <a:ext cx="2244426" cy="139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23146" y="570676"/>
            <a:ext cx="224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FFFFFF"/>
                </a:solidFill>
                <a:latin typeface="Segoe UI"/>
              </a:rPr>
              <a:t>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3146" y="1072516"/>
            <a:ext cx="2204426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KI-Modell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8146" y="1379196"/>
            <a:ext cx="221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GPT · Claude
Gemini · Llama
Phi · Mistral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7572" y="1142720"/>
            <a:ext cx="60000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B0A0D0"/>
                </a:solidFill>
                <a:latin typeface="Segoe U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47572" y="613000"/>
            <a:ext cx="2244426" cy="1394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47572" y="648087"/>
            <a:ext cx="224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 dirty="0">
                <a:solidFill>
                  <a:srgbClr val="FFFFFF"/>
                </a:solidFill>
                <a:latin typeface="Segoe UI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67572" y="1149927"/>
            <a:ext cx="2204426" cy="33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Ergebnis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62572" y="1456607"/>
            <a:ext cx="2214426" cy="44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Text · Plan
Korrektur
Grafik ·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000" y="2230000"/>
            <a:ext cx="6096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A0D0"/>
                </a:solidFill>
                <a:latin typeface="Segoe UI"/>
              </a:rPr>
              <a:t>② Die bekanntesten KI-Modelle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0000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60000" y="2460000"/>
            <a:ext cx="50000" cy="1550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60000" y="2460000"/>
            <a:ext cx="1620285" cy="24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0000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GPT-4o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000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A37F"/>
                </a:solidFill>
                <a:latin typeface="Segoe UI"/>
              </a:rPr>
              <a:t>OpenAI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000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Text · Code
Vision · Analyse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35285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935285" y="2460000"/>
            <a:ext cx="50000" cy="1550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935285" y="2460000"/>
            <a:ext cx="1620285" cy="2400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15285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GPT-4.5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5285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A37F"/>
                </a:solidFill>
                <a:latin typeface="Segoe UI"/>
              </a:rPr>
              <a:t>OpenAI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5285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Kreativität
Langtext · Chat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10570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610570" y="2460000"/>
            <a:ext cx="50000" cy="1550000"/>
          </a:xfrm>
          <a:prstGeom prst="rect">
            <a:avLst/>
          </a:prstGeom>
          <a:solidFill>
            <a:srgbClr val="D4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10570" y="2460000"/>
            <a:ext cx="1620285" cy="24000"/>
          </a:xfrm>
          <a:prstGeom prst="rect">
            <a:avLst/>
          </a:prstGeom>
          <a:solidFill>
            <a:srgbClr val="D4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90570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Claude Opus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90570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7A4A"/>
                </a:solidFill>
                <a:latin typeface="Segoe UI"/>
              </a:rPr>
              <a:t>Anthropic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90570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Reasoning
Lange Dokumente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5855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285855" y="2460000"/>
            <a:ext cx="50000" cy="1550000"/>
          </a:xfrm>
          <a:prstGeom prst="rect">
            <a:avLst/>
          </a:prstGeom>
          <a:solidFill>
            <a:srgbClr val="D4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285855" y="2460000"/>
            <a:ext cx="1620285" cy="24000"/>
          </a:xfrm>
          <a:prstGeom prst="rect">
            <a:avLst/>
          </a:prstGeom>
          <a:solidFill>
            <a:srgbClr val="D4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65855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Claude Sonnet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65855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7A4A"/>
                </a:solidFill>
                <a:latin typeface="Segoe UI"/>
              </a:rPr>
              <a:t>Anthropic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65855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Schnell &amp;
präzise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61140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961140" y="2460000"/>
            <a:ext cx="50000" cy="1550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961140" y="2460000"/>
            <a:ext cx="1620285" cy="24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041140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Gemini 1.5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41140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285F4"/>
                </a:solidFill>
                <a:latin typeface="Segoe UI"/>
              </a:rPr>
              <a:t>Google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1140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Multimodal
Google-Suche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36425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636425" y="2460000"/>
            <a:ext cx="50000" cy="1550000"/>
          </a:xfrm>
          <a:prstGeom prst="rect">
            <a:avLst/>
          </a:prstGeom>
          <a:solidFill>
            <a:srgbClr val="1B7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8636425" y="2460000"/>
            <a:ext cx="1620285" cy="24000"/>
          </a:xfrm>
          <a:prstGeom prst="rect">
            <a:avLst/>
          </a:prstGeom>
          <a:solidFill>
            <a:srgbClr val="1B7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716425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Llama 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16425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74E4"/>
                </a:solidFill>
                <a:latin typeface="Segoe UI"/>
              </a:rPr>
              <a:t>Meta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16425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Open Source
Lokal nutzbar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311710" y="2460000"/>
            <a:ext cx="1620285" cy="1550000"/>
          </a:xfrm>
          <a:prstGeom prst="rect">
            <a:avLst/>
          </a:prstGeom>
          <a:solidFill>
            <a:srgbClr val="160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0311710" y="2460000"/>
            <a:ext cx="50000" cy="155000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0311710" y="2460000"/>
            <a:ext cx="1620285" cy="24000"/>
          </a:xfrm>
          <a:prstGeom prst="rect">
            <a:avLst/>
          </a:prstGeom>
          <a:solidFill>
            <a:srgbClr val="00B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391710" y="2510000"/>
            <a:ext cx="1520285" cy="4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Phi-3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91710" y="2770000"/>
            <a:ext cx="1520285" cy="27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CF2"/>
                </a:solidFill>
                <a:latin typeface="Segoe UI"/>
              </a:rPr>
              <a:t>Microsoft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91710" y="2970000"/>
            <a:ext cx="1520285" cy="58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A0D0"/>
                </a:solidFill>
                <a:latin typeface="Segoe UI"/>
              </a:rPr>
              <a:t>Klein &amp;
effizient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0000" y="4080000"/>
            <a:ext cx="6096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A0D0"/>
                </a:solidFill>
                <a:latin typeface="Segoe UI"/>
              </a:rPr>
              <a:t>③ Was kann für Lehrkräfte entstehen?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60000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260000" y="4310000"/>
            <a:ext cx="1410875" cy="24000"/>
          </a:xfrm>
          <a:prstGeom prst="rect">
            <a:avLst/>
          </a:prstGeom>
          <a:solidFill>
            <a:srgbClr val="FF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66937" y="4501040"/>
            <a:ext cx="597000" cy="597000"/>
          </a:xfrm>
          <a:prstGeom prst="rect">
            <a:avLst/>
          </a:prstGeom>
          <a:solidFill>
            <a:srgbClr val="9B0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66937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📋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0000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Unterrichts-
vorbereitung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0000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Stunden &amp; Sequenzen
in Minuten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725875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725875" y="4310000"/>
            <a:ext cx="1410875" cy="2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2132812" y="4501040"/>
            <a:ext cx="597000" cy="597000"/>
          </a:xfrm>
          <a:prstGeom prst="rect">
            <a:avLst/>
          </a:prstGeom>
          <a:solidFill>
            <a:srgbClr val="180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132812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✏️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698374" y="5312960"/>
            <a:ext cx="146587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Segoe UI"/>
              </a:rPr>
              <a:t>Differenzierung</a:t>
            </a:r>
            <a:endParaRPr sz="13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745875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Aufgaben auf
3 Niveaus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191750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191750" y="4310000"/>
            <a:ext cx="1410875" cy="24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598687" y="4501040"/>
            <a:ext cx="597000" cy="597000"/>
          </a:xfrm>
          <a:prstGeom prst="rect">
            <a:avLst/>
          </a:prstGeom>
          <a:solidFill>
            <a:srgbClr val="0052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598687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📊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21750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Tests &amp;
Prüfungen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11750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Aufgaben + Lösung +
Erwartungshorizont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57625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657625" y="4310000"/>
            <a:ext cx="1410875" cy="24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064562" y="4501040"/>
            <a:ext cx="597000" cy="597000"/>
          </a:xfrm>
          <a:prstGeom prst="rect">
            <a:avLst/>
          </a:prstGeom>
          <a:solidFill>
            <a:srgbClr val="006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064562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💬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87625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Feedback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77625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Individuell für
jeden Schüler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123500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6123500" y="4310000"/>
            <a:ext cx="1410875" cy="24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530437" y="4501040"/>
            <a:ext cx="597000" cy="597000"/>
          </a:xfrm>
          <a:prstGeom prst="rect">
            <a:avLst/>
          </a:prstGeom>
          <a:solidFill>
            <a:srgbClr val="913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530437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📧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80763" y="5312960"/>
            <a:ext cx="146587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Segoe UI"/>
              </a:rPr>
              <a:t>Eltern</a:t>
            </a:r>
            <a:r>
              <a:rPr sz="1300" b="1" i="0" dirty="0">
                <a:solidFill>
                  <a:srgbClr val="FFFFFF"/>
                </a:solidFill>
                <a:latin typeface="Segoe UI"/>
              </a:rPr>
              <a:t>-
</a:t>
            </a:r>
            <a:r>
              <a:rPr sz="1300" b="1" i="0" dirty="0" err="1">
                <a:solidFill>
                  <a:srgbClr val="FFFFFF"/>
                </a:solidFill>
                <a:latin typeface="Segoe UI"/>
              </a:rPr>
              <a:t>kommunikation</a:t>
            </a:r>
            <a:endParaRPr sz="13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143500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Briefe &amp; Mails
professionell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589375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7589375" y="4310000"/>
            <a:ext cx="1410875" cy="24000"/>
          </a:xfrm>
          <a:prstGeom prst="rect">
            <a:avLst/>
          </a:prstGeom>
          <a:solidFill>
            <a:srgbClr val="F47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7996312" y="4501040"/>
            <a:ext cx="597000" cy="597000"/>
          </a:xfrm>
          <a:prstGeom prst="rect">
            <a:avLst/>
          </a:prstGeom>
          <a:solidFill>
            <a:srgbClr val="900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7996312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🌍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589375" y="5312960"/>
            <a:ext cx="138087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 err="1">
                <a:solidFill>
                  <a:srgbClr val="FFFFFF"/>
                </a:solidFill>
                <a:latin typeface="Segoe UI"/>
              </a:rPr>
              <a:t>Übersetzungen</a:t>
            </a:r>
            <a:endParaRPr sz="13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609375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Elterninfos in
20+ Sprachen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055250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9055250" y="4310000"/>
            <a:ext cx="1410875" cy="24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9462187" y="4501040"/>
            <a:ext cx="597000" cy="597000"/>
          </a:xfrm>
          <a:prstGeom prst="rect">
            <a:avLst/>
          </a:prstGeom>
          <a:solidFill>
            <a:srgbClr val="006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462187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🖼️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085250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Bilder &amp;
Grafiken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75250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KI-Illustrationen
für Materialien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521125" y="4310000"/>
            <a:ext cx="1410875" cy="2388000"/>
          </a:xfrm>
          <a:prstGeom prst="rect">
            <a:avLst/>
          </a:prstGeom>
          <a:solidFill>
            <a:srgbClr val="1E0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0521125" y="4310000"/>
            <a:ext cx="1410875" cy="2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928062" y="4501040"/>
            <a:ext cx="597000" cy="597000"/>
          </a:xfrm>
          <a:prstGeom prst="rect">
            <a:avLst/>
          </a:prstGeom>
          <a:solidFill>
            <a:srgbClr val="9B7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0928062" y="4530890"/>
            <a:ext cx="597000" cy="53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Segoe UI"/>
              </a:rPr>
              <a:t>⭐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551125" y="5312960"/>
            <a:ext cx="1350875" cy="66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Korrektur &amp;
Benotung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541125" y="5981600"/>
            <a:ext cx="1370875" cy="62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A0D0"/>
                </a:solidFill>
                <a:latin typeface="Segoe UI"/>
              </a:rPr>
              <a:t>Foto hochladen →
Note 1–6 + Feedback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537000" y="4340000"/>
            <a:ext cx="370000" cy="14000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1537000" y="4358000"/>
            <a:ext cx="370000" cy="1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▶  LIVE DEMO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60000" y="6703000"/>
            <a:ext cx="11672000" cy="1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0A0D0"/>
                </a:solidFill>
                <a:latin typeface="Segoe UI"/>
              </a:rPr>
              <a:t>💡  KI ist kein Ersatz — sondern ein Werkzeug, das Freiraum für das Wesentliche schafft: den Menschen.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Microsoft Office PowerPoint</Application>
  <PresentationFormat>Breitbild</PresentationFormat>
  <Paragraphs>65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 Mandel</cp:lastModifiedBy>
  <cp:revision>1</cp:revision>
  <dcterms:created xsi:type="dcterms:W3CDTF">2013-01-27T09:14:16Z</dcterms:created>
  <dcterms:modified xsi:type="dcterms:W3CDTF">2026-04-29T16:22:07Z</dcterms:modified>
  <cp:category/>
</cp:coreProperties>
</file>