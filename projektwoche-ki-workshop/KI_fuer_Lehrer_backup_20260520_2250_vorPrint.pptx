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andel" userId="52539b07421473cf" providerId="LiveId" clId="{57B4768D-02BE-452A-9D63-8125C7D755DB}"/>
    <pc:docChg chg="modSld">
      <pc:chgData name="Chris Mandel" userId="52539b07421473cf" providerId="LiveId" clId="{57B4768D-02BE-452A-9D63-8125C7D755DB}" dt="2026-04-29T16:22:00.956" v="15" actId="14100"/>
      <pc:docMkLst>
        <pc:docMk/>
      </pc:docMkLst>
      <pc:sldChg chg="modSp mod">
        <pc:chgData name="Chris Mandel" userId="52539b07421473cf" providerId="LiveId" clId="{57B4768D-02BE-452A-9D63-8125C7D755DB}" dt="2026-04-29T16:22:00.956" v="15" actId="14100"/>
        <pc:sldMkLst>
          <pc:docMk/>
          <pc:sldMk cId="0" sldId="256"/>
        </pc:sldMkLst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46.099" v="4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56.565" v="14" actId="103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2:00.956" v="15" actId="14100"/>
          <ac:spMkLst>
            <pc:docMk/>
            <pc:sldMk cId="0" sldId="256"/>
            <ac:spMk id="10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Technische Neuerungen verbreiten sich heute in Tagen, früher in Jahrzehnten.</a:t>
            </a:r>
          </a:p>
          <a:p/>
          <a:p>
            <a:r>
              <a:t>Zeitstrahl-Daten:</a:t>
            </a:r>
          </a:p>
          <a:p>
            <a:r>
              <a:t>1450 Gutenberg-Buchdruck · 1876 Telefon (Bell) · 1895 Radio (Marconi) · 1927 Fernsehen · 1946 ENIAC (erster elektron. Universalrechner) · 1969 ARPANET (Internet-Vorläufer) · 1991 World Wide Web (Tim Berners-Lee) · 2007 iPhone (Smartphone-Ära) · 2022 ChatGPT (generative KI für alle) · ab ca. 2025 Quantencomputer (im Aufkommen).</a:t>
            </a:r>
          </a:p>
          <a:p/>
          <a:p>
            <a:r>
              <a:t>Adoptions-Tempo 'bis 1 Mio. Nutzer' (konsistente Metrik): Netflix ~3,5 Jahre, Facebook ~10 Monate, Spotify ~5 Monate, Instagram ~2,5 Monate, ChatGPT ~5 Tage.</a:t>
            </a:r>
          </a:p>
          <a:p/>
          <a:p>
            <a:r>
              <a:t>WICHTIG zur Ehrlichkeit: Die oft zitierten '38 Jahre Radio' beziehen sich auf 50 Mio. Nutzer, nicht 1 Mio. — daher hier getrennt als Kontext genannt, nicht im direkten Balkenvergleich. ChatGPT erreichte 100 Mio. Nutzer in ~2 Monaten (schnellste Consumer-App der Geschichte bis dahin).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00000"/>
          </a:xfrm>
          <a:prstGeom prst="rect">
            <a:avLst/>
          </a:prstGeom>
          <a:solidFill>
            <a:srgbClr val="120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84000"/>
            <a:ext cx="12192000" cy="16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000" y="55000"/>
            <a:ext cx="11672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KI-Unterstützung für Lehrerinnen und Lehrer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92000" y="100000"/>
            <a:ext cx="2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A0D0"/>
                </a:solidFill>
                <a:latin typeface="Segoe UI"/>
              </a:rPr>
              <a:t>Lessing Gymnasium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000" y="460000"/>
            <a:ext cx="11672000" cy="1700000"/>
          </a:xfrm>
          <a:prstGeom prst="rect">
            <a:avLst/>
          </a:prstGeom>
          <a:solidFill>
            <a:srgbClr val="1A0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0000" y="460000"/>
            <a:ext cx="30000" cy="1700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000" y="530000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99"/>
                </a:solidFill>
                <a:latin typeface="Segoe UI"/>
              </a:rPr>
              <a:t>① Der KI-Assistent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80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z. B. OpenClaw · Claude Code · ChatGPT-App · Gemini Advanced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030000"/>
            <a:ext cx="4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0D0"/>
                </a:solidFill>
                <a:latin typeface="Segoe UI"/>
              </a:rPr>
              <a:t>Der Assistent ist das Frontend — die Oberfläche.
Das KI-Modell dahinter kann jederzeit gewechselt werden.
Wie ein Browser: er zeigt Inhalte an — die Website
(= das Modell) kann eine andere sein.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540000"/>
            <a:ext cx="14000" cy="1540000"/>
          </a:xfrm>
          <a:prstGeom prst="rect">
            <a:avLst/>
          </a:prstGeom>
          <a:solidFill>
            <a:srgbClr val="35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98720" y="613000"/>
            <a:ext cx="2244426" cy="139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8720" y="603140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🧑‍💻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720" y="1104980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Assistent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3720" y="1411660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FFFFFF"/>
                </a:solidFill>
                <a:latin typeface="Segoe UI"/>
              </a:rPr>
              <a:t>OpenClaw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
Claude Code
ChatGPT-App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3146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A0D0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3146" y="613000"/>
            <a:ext cx="2244426" cy="139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23146" y="570676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146" y="1072516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KI-Modell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8146" y="1379196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GPT · Claude
Gemini · Llama
Phi · Mistral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7572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A0D0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7572" y="613000"/>
            <a:ext cx="2244426" cy="139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7572" y="648087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7572" y="1149927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Ergebnis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2572" y="1456607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Text · Plan
Korrektur
Grafik ·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000" y="223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A0D0"/>
                </a:solidFill>
                <a:latin typeface="Segoe UI"/>
              </a:rPr>
              <a:t>② Die bekanntesten KI-Modelle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00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0000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0000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000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00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00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Text · Code
Vision · Analyse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3528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935285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35285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528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GPT-4.5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528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528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Kreativität
Langtext · Chat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057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10570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10570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057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Claude Opus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057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057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Reasoning
Lange Dokumente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585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285855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285855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6585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Claude Sonnet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585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6585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Schnell &amp;
präzise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114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1140" y="2460000"/>
            <a:ext cx="50000" cy="15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61140" y="2460000"/>
            <a:ext cx="1620285" cy="24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4114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Gemini 1.5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114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85F4"/>
                </a:solidFill>
                <a:latin typeface="Segoe UI"/>
              </a:rPr>
              <a:t>Google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114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Multimodal
Google-Suche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642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636425" y="2460000"/>
            <a:ext cx="50000" cy="1550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636425" y="2460000"/>
            <a:ext cx="1620285" cy="24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1642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Llama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1642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74E4"/>
                </a:solidFill>
                <a:latin typeface="Segoe UI"/>
              </a:rPr>
              <a:t>Meta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1642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Open Source
Lokal nutzbar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1171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311710" y="2460000"/>
            <a:ext cx="50000" cy="1550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311710" y="2460000"/>
            <a:ext cx="1620285" cy="24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39171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Phi-3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171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CF2"/>
                </a:solidFill>
                <a:latin typeface="Segoe UI"/>
              </a:rPr>
              <a:t>Microsoft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171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Klein &amp;
effizient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000" y="408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A0D0"/>
                </a:solidFill>
                <a:latin typeface="Segoe UI"/>
              </a:rPr>
              <a:t>③ Was kann für Lehrkräfte entstehen?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00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60000" y="4310000"/>
            <a:ext cx="1410875" cy="2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66937" y="4501040"/>
            <a:ext cx="597000" cy="597000"/>
          </a:xfrm>
          <a:prstGeom prst="rect">
            <a:avLst/>
          </a:prstGeom>
          <a:solidFill>
            <a:srgbClr val="9B0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69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000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Unterrichts-
vorbereitung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00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Stunden &amp; Sequenzen
in Minuten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2587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725875" y="4310000"/>
            <a:ext cx="1410875" cy="2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32812" y="4501040"/>
            <a:ext cx="597000" cy="597000"/>
          </a:xfrm>
          <a:prstGeom prst="rect">
            <a:avLst/>
          </a:prstGeom>
          <a:solidFill>
            <a:srgbClr val="180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328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✏️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8374" y="5312960"/>
            <a:ext cx="1465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Differenzierung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458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Aufgaben auf
3 Niveaus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9175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91750" y="4310000"/>
            <a:ext cx="1410875" cy="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598687" y="4501040"/>
            <a:ext cx="597000" cy="597000"/>
          </a:xfrm>
          <a:prstGeom prst="rect">
            <a:avLst/>
          </a:prstGeom>
          <a:solidFill>
            <a:srgbClr val="00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986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217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Tests &amp;
Prüfungen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17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Aufgaben + Lösung +
Erwartungshorizont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5762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57625" y="4310000"/>
            <a:ext cx="1410875" cy="2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064562" y="4501040"/>
            <a:ext cx="597000" cy="597000"/>
          </a:xfrm>
          <a:prstGeom prst="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0645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876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Feedback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776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Individuell für
jeden Schüler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350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123500" y="4310000"/>
            <a:ext cx="1410875" cy="2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530437" y="4501040"/>
            <a:ext cx="597000" cy="597000"/>
          </a:xfrm>
          <a:prstGeom prst="rect">
            <a:avLst/>
          </a:prstGeom>
          <a:solidFill>
            <a:srgbClr val="91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304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0763" y="5312960"/>
            <a:ext cx="1465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Eltern</a:t>
            </a:r>
            <a:r>
              <a:rPr sz="1300" b="1" i="0" dirty="0">
                <a:solidFill>
                  <a:srgbClr val="FFFFFF"/>
                </a:solidFill>
                <a:latin typeface="Segoe UI"/>
              </a:rPr>
              <a:t>-
</a:t>
            </a:r>
            <a:r>
              <a:rPr sz="1300" b="1" i="0" dirty="0" err="1">
                <a:solidFill>
                  <a:srgbClr val="FFFFFF"/>
                </a:solidFill>
                <a:latin typeface="Segoe UI"/>
              </a:rPr>
              <a:t>kommunikation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1435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Briefe &amp; Mails
professionell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37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589375" y="4310000"/>
            <a:ext cx="1410875" cy="24000"/>
          </a:xfrm>
          <a:prstGeom prst="rect">
            <a:avLst/>
          </a:prstGeom>
          <a:solidFill>
            <a:srgbClr val="F47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996312" y="4501040"/>
            <a:ext cx="597000" cy="597000"/>
          </a:xfrm>
          <a:prstGeom prst="rect">
            <a:avLst/>
          </a:prstGeom>
          <a:solidFill>
            <a:srgbClr val="900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963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🌍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375" y="5312960"/>
            <a:ext cx="1380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Übersetzungen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6093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Elterninfos in
20+ Sprachen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5525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055250" y="4310000"/>
            <a:ext cx="1410875" cy="2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462187" y="4501040"/>
            <a:ext cx="597000" cy="597000"/>
          </a:xfrm>
          <a:prstGeom prst="rect">
            <a:avLst/>
          </a:prstGeom>
          <a:solidFill>
            <a:srgbClr val="006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4621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🖼️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852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Bilder &amp;
Grafiken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752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KI-Illustrationen
für Materialien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2112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521125" y="4310000"/>
            <a:ext cx="1410875" cy="2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928062" y="4501040"/>
            <a:ext cx="597000" cy="597000"/>
          </a:xfrm>
          <a:prstGeom prst="rect">
            <a:avLst/>
          </a:prstGeom>
          <a:solidFill>
            <a:srgbClr val="9B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280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511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Korrektur &amp;
Benotung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411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Foto hochladen →
Note 1–6 + Feedback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537000" y="4340000"/>
            <a:ext cx="370000" cy="14000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537000" y="4358000"/>
            <a:ext cx="370000" cy="1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▶  LIVE DEMO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0000" y="6703000"/>
            <a:ext cx="11672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A0D0"/>
                </a:solidFill>
                <a:latin typeface="Segoe UI"/>
              </a:rPr>
              <a:t>💡  KI ist kein Ersatz — sondern ein Werkzeug, das Freiraum für das Wesentliche schafft: den Menschen.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784848"/>
            <a:ext cx="1828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>
                <a:solidFill>
                  <a:srgbClr val="0D0B1E"/>
                </a:solidFill>
                <a:latin typeface="Segoe UI"/>
              </a:rPr>
              <a:t>MEILENSTEIN_FOLIE_V1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699"/>
                </a:solidFill>
                <a:latin typeface="Segoe UI"/>
              </a:rPr>
              <a:t>④  Vom Buchdruck zur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A0D0"/>
                </a:solidFill>
                <a:latin typeface="Segoe UI"/>
              </a:rPr>
              <a:t>Die Innovationszyklen werden immer kürzer — Technik beschleunigt sich selbst.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11840" cy="32004"/>
          </a:xfrm>
          <a:prstGeom prst="rect">
            <a:avLst/>
          </a:prstGeom>
          <a:solidFill>
            <a:srgbClr val="4A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7784" y="2263139"/>
            <a:ext cx="164592" cy="164592"/>
          </a:xfrm>
          <a:prstGeom prst="ellipse">
            <a:avLst/>
          </a:prstGeom>
          <a:solidFill>
            <a:srgbClr val="6A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79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Buchdruck</a:t>
            </a:r>
          </a:p>
        </p:txBody>
      </p:sp>
      <p:sp>
        <p:nvSpPr>
          <p:cNvPr id="12" name="Oval 11"/>
          <p:cNvSpPr/>
          <p:nvPr/>
        </p:nvSpPr>
        <p:spPr>
          <a:xfrm>
            <a:off x="1770210" y="2263139"/>
            <a:ext cx="164592" cy="164592"/>
          </a:xfrm>
          <a:prstGeom prst="ellipse">
            <a:avLst/>
          </a:prstGeom>
          <a:solidFill>
            <a:srgbClr val="7A5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5306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☎️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578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1876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578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Telefon</a:t>
            </a:r>
          </a:p>
        </p:txBody>
      </p:sp>
      <p:sp>
        <p:nvSpPr>
          <p:cNvPr id="16" name="Oval 15"/>
          <p:cNvSpPr/>
          <p:nvPr/>
        </p:nvSpPr>
        <p:spPr>
          <a:xfrm>
            <a:off x="2982637" y="2263139"/>
            <a:ext cx="164592" cy="164592"/>
          </a:xfrm>
          <a:prstGeom prst="ellipse">
            <a:avLst/>
          </a:prstGeom>
          <a:solidFill>
            <a:srgbClr val="8B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7733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8005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1895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8005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Radio</a:t>
            </a:r>
          </a:p>
        </p:txBody>
      </p:sp>
      <p:sp>
        <p:nvSpPr>
          <p:cNvPr id="20" name="Oval 19"/>
          <p:cNvSpPr/>
          <p:nvPr/>
        </p:nvSpPr>
        <p:spPr>
          <a:xfrm>
            <a:off x="4195064" y="2263139"/>
            <a:ext cx="164592" cy="164592"/>
          </a:xfrm>
          <a:prstGeom prst="ellipse">
            <a:avLst/>
          </a:prstGeom>
          <a:solidFill>
            <a:srgbClr val="9B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0160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0432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432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Fernsehen</a:t>
            </a:r>
          </a:p>
        </p:txBody>
      </p:sp>
      <p:sp>
        <p:nvSpPr>
          <p:cNvPr id="24" name="Oval 23"/>
          <p:cNvSpPr/>
          <p:nvPr/>
        </p:nvSpPr>
        <p:spPr>
          <a:xfrm>
            <a:off x="5407490" y="2263139"/>
            <a:ext cx="164592" cy="164592"/>
          </a:xfrm>
          <a:prstGeom prst="ellipse">
            <a:avLst/>
          </a:prstGeom>
          <a:solidFill>
            <a:srgbClr val="AC5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2586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2858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2858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Computer</a:t>
            </a:r>
          </a:p>
        </p:txBody>
      </p:sp>
      <p:sp>
        <p:nvSpPr>
          <p:cNvPr id="28" name="Oval 27"/>
          <p:cNvSpPr/>
          <p:nvPr/>
        </p:nvSpPr>
        <p:spPr>
          <a:xfrm>
            <a:off x="6619917" y="2263139"/>
            <a:ext cx="164592" cy="164592"/>
          </a:xfrm>
          <a:prstGeom prst="ellipse">
            <a:avLst/>
          </a:prstGeom>
          <a:solidFill>
            <a:srgbClr val="BC6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013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285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285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Internet</a:t>
            </a:r>
          </a:p>
        </p:txBody>
      </p:sp>
      <p:sp>
        <p:nvSpPr>
          <p:cNvPr id="32" name="Oval 31"/>
          <p:cNvSpPr/>
          <p:nvPr/>
        </p:nvSpPr>
        <p:spPr>
          <a:xfrm>
            <a:off x="7832344" y="2263139"/>
            <a:ext cx="164592" cy="164592"/>
          </a:xfrm>
          <a:prstGeom prst="ellipse">
            <a:avLst/>
          </a:prstGeom>
          <a:solidFill>
            <a:srgbClr val="CD6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7440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712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7712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World Wide Web</a:t>
            </a:r>
          </a:p>
        </p:txBody>
      </p:sp>
      <p:sp>
        <p:nvSpPr>
          <p:cNvPr id="36" name="Oval 35"/>
          <p:cNvSpPr/>
          <p:nvPr/>
        </p:nvSpPr>
        <p:spPr>
          <a:xfrm>
            <a:off x="9044770" y="2263139"/>
            <a:ext cx="164592" cy="164592"/>
          </a:xfrm>
          <a:prstGeom prst="ellipse">
            <a:avLst/>
          </a:prstGeom>
          <a:solidFill>
            <a:srgbClr val="DD6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9866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0138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0138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Smartphone</a:t>
            </a:r>
          </a:p>
        </p:txBody>
      </p:sp>
      <p:sp>
        <p:nvSpPr>
          <p:cNvPr id="40" name="Oval 39"/>
          <p:cNvSpPr/>
          <p:nvPr/>
        </p:nvSpPr>
        <p:spPr>
          <a:xfrm>
            <a:off x="10257197" y="2263139"/>
            <a:ext cx="164592" cy="164592"/>
          </a:xfrm>
          <a:prstGeom prst="ellipse">
            <a:avLst/>
          </a:prstGeom>
          <a:solidFill>
            <a:srgbClr val="EE6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82293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2565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2565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Generative KI</a:t>
            </a:r>
          </a:p>
        </p:txBody>
      </p:sp>
      <p:sp>
        <p:nvSpPr>
          <p:cNvPr id="44" name="Oval 43"/>
          <p:cNvSpPr/>
          <p:nvPr/>
        </p:nvSpPr>
        <p:spPr>
          <a:xfrm>
            <a:off x="11469624" y="2263139"/>
            <a:ext cx="164592" cy="164592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94720" y="16184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⚛️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84992" y="2496312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84992" y="2752344"/>
            <a:ext cx="1133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Quanten­computer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6213" y="1307591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426 Jahre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5920" y="1307591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23 Jahre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3200" y="1307591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15 Jahre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05626" y="1307591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3 Jahre 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886200"/>
            <a:ext cx="11274552" cy="2606040"/>
          </a:xfrm>
          <a:prstGeom prst="roundRect">
            <a:avLst/>
          </a:prstGeom>
          <a:solidFill>
            <a:srgbClr val="1A0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0690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⚡  Wie schnell erreicht eine Technik 1 Million Nutzer?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645152"/>
            <a:ext cx="17830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Netflix</a:t>
            </a:r>
            <a:r>
              <a:rPr sz="850">
                <a:solidFill>
                  <a:srgbClr val="B0A0D0"/>
                </a:solidFill>
                <a:latin typeface="Segoe UI"/>
              </a:rPr>
              <a:t>  1999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06040" y="4654296"/>
            <a:ext cx="7571232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05288" y="46360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3,5 Jahre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974336"/>
            <a:ext cx="17830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Facebook</a:t>
            </a:r>
            <a:r>
              <a:rPr sz="850">
                <a:solidFill>
                  <a:srgbClr val="B0A0D0"/>
                </a:solidFill>
                <a:latin typeface="Segoe UI"/>
              </a:rPr>
              <a:t>  2004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06040" y="4983480"/>
            <a:ext cx="4526280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0336" y="4965192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10 Monate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303520"/>
            <a:ext cx="17830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Spotify</a:t>
            </a:r>
            <a:r>
              <a:rPr sz="850">
                <a:solidFill>
                  <a:srgbClr val="B0A0D0"/>
                </a:solidFill>
                <a:latin typeface="Segoe UI"/>
              </a:rPr>
              <a:t>  2008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606040" y="5312664"/>
            <a:ext cx="3127248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61303" y="5294376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5 Monate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632704"/>
            <a:ext cx="17830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Instagram</a:t>
            </a:r>
            <a:r>
              <a:rPr sz="850">
                <a:solidFill>
                  <a:srgbClr val="B0A0D0"/>
                </a:solidFill>
                <a:latin typeface="Segoe UI"/>
              </a:rPr>
              <a:t>  2010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06040" y="5641848"/>
            <a:ext cx="1810512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44568" y="562356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2,5 Monate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961888"/>
            <a:ext cx="17830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ChatGPT</a:t>
            </a:r>
            <a:r>
              <a:rPr sz="850">
                <a:solidFill>
                  <a:srgbClr val="B0A0D0"/>
                </a:solidFill>
                <a:latin typeface="Segoe UI"/>
              </a:rPr>
              <a:t>  2022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06040" y="5971031"/>
            <a:ext cx="411480" cy="201168"/>
          </a:xfrm>
          <a:prstGeom prst="round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45536" y="595274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6699"/>
                </a:solidFill>
                <a:latin typeface="Segoe UI"/>
              </a:rPr>
              <a:t>5 Tage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236207"/>
            <a:ext cx="10698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72A0"/>
                </a:solidFill>
                <a:latin typeface="Segoe UI"/>
              </a:rPr>
              <a:t>Hinweis: konsistente Metrik „bis 1 Mio. Nutzer". Zum Vergleich brauchte das Radio 38 Jahre bis 50 Mio. Hörer.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Breitbild</PresentationFormat>
  <Paragraphs>65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Mandel</cp:lastModifiedBy>
  <cp:revision>1</cp:revision>
  <dcterms:created xsi:type="dcterms:W3CDTF">2013-01-27T09:14:16Z</dcterms:created>
  <dcterms:modified xsi:type="dcterms:W3CDTF">2026-04-29T16:22:07Z</dcterms:modified>
  <cp:category/>
</cp:coreProperties>
</file>